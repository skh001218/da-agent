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b7f0722cc8f454f" /><Relationship Type="http://schemas.openxmlformats.org/officeDocument/2006/relationships/extended-properties" Target="/docProps/app.xml" Id="Re06f81b44f264d98" /><Relationship Type="http://schemas.openxmlformats.org/officeDocument/2006/relationships/officeDocument" Target="/ppt/presentation.xml" Id="R1ba8763671af4bd9" /></Relationships>
</file>

<file path=ppt/presentation.xml><?xml version="1.0" encoding="utf-8"?>
<p:presentation xmlns:p="http://schemas.openxmlformats.org/presentationml/2006/main">
  <p:sldMasterIdLst>
    <p:sldMasterId xmlns:r="http://schemas.openxmlformats.org/officeDocument/2006/relationships" id="2147483648" r:id="Rd2e82f60d1434328"/>
  </p:sldMasterIdLst>
  <p:notesMasterIdLst>
    <p:notesMasterId xmlns:r="http://schemas.openxmlformats.org/officeDocument/2006/relationships" r:id="R4fd99a70e6204070"/>
  </p:notesMasterIdLst>
  <p:sldIdLst>
    <p:sldId xmlns:r="http://schemas.openxmlformats.org/officeDocument/2006/relationships" id="256" r:id="Rfc37d19781094163"/>
    <p:sldId xmlns:r="http://schemas.openxmlformats.org/officeDocument/2006/relationships" id="257" r:id="R8be31976b867447a"/>
    <p:sldId xmlns:r="http://schemas.openxmlformats.org/officeDocument/2006/relationships" id="260" r:id="R47527fa83c4d48fd"/>
    <p:sldId xmlns:r="http://schemas.openxmlformats.org/officeDocument/2006/relationships" id="261" r:id="R3cc77fd6d51d4150"/>
    <p:sldId xmlns:r="http://schemas.openxmlformats.org/officeDocument/2006/relationships" id="262" r:id="Rc3d9a3f804764e79"/>
    <p:sldId xmlns:r="http://schemas.openxmlformats.org/officeDocument/2006/relationships" id="263" r:id="Rfab31aba63354cf5"/>
    <p:sldId xmlns:r="http://schemas.openxmlformats.org/officeDocument/2006/relationships" id="264" r:id="Rf9743e405ef74a2a"/>
    <p:sldId xmlns:r="http://schemas.openxmlformats.org/officeDocument/2006/relationships" id="265" r:id="R22922be054734948"/>
    <p:sldId xmlns:r="http://schemas.openxmlformats.org/officeDocument/2006/relationships" id="266" r:id="R5393f1cddac64565"/>
    <p:sldId xmlns:r="http://schemas.openxmlformats.org/officeDocument/2006/relationships" id="267" r:id="Re6662abf601b48f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bfb55df1f9a45dc" /><Relationship Type="http://schemas.openxmlformats.org/officeDocument/2006/relationships/slideMaster" Target="/ppt/slideMasters/slideMaster1.xml" Id="Rd2e82f60d1434328" /><Relationship Type="http://schemas.openxmlformats.org/officeDocument/2006/relationships/notesMaster" Target="/ppt/notesMasters/notesMaster1.xml" Id="R4fd99a70e6204070" /><Relationship Type="http://schemas.openxmlformats.org/officeDocument/2006/relationships/presProps" Target="/ppt/presProps.xml" Id="R488ce30916724971" /><Relationship Type="http://schemas.openxmlformats.org/officeDocument/2006/relationships/tableStyles" Target="/ppt/tableStyles.xml" Id="Ree71f155c5214cbd" /><Relationship Type="http://schemas.openxmlformats.org/officeDocument/2006/relationships/slide" Target="/ppt/slides/slide1.xml" Id="Rfc37d19781094163" /><Relationship Type="http://schemas.openxmlformats.org/officeDocument/2006/relationships/slide" Target="/ppt/slides/slide2.xml" Id="R8be31976b867447a" /><Relationship Type="http://schemas.openxmlformats.org/officeDocument/2006/relationships/slide" Target="/ppt/slides/slide3.xml" Id="R47527fa83c4d48fd" /><Relationship Type="http://schemas.openxmlformats.org/officeDocument/2006/relationships/slide" Target="/ppt/slides/slide4.xml" Id="R3cc77fd6d51d4150" /><Relationship Type="http://schemas.openxmlformats.org/officeDocument/2006/relationships/slide" Target="/ppt/slides/slide5.xml" Id="Rc3d9a3f804764e79" /><Relationship Type="http://schemas.openxmlformats.org/officeDocument/2006/relationships/slide" Target="/ppt/slides/slide6.xml" Id="Rfab31aba63354cf5" /><Relationship Type="http://schemas.openxmlformats.org/officeDocument/2006/relationships/slide" Target="/ppt/slides/slide7.xml" Id="Rf9743e405ef74a2a" /><Relationship Type="http://schemas.openxmlformats.org/officeDocument/2006/relationships/slide" Target="/ppt/slides/slide8.xml" Id="R22922be054734948" /><Relationship Type="http://schemas.openxmlformats.org/officeDocument/2006/relationships/slide" Target="/ppt/slides/slide9.xml" Id="R5393f1cddac64565" /><Relationship Type="http://schemas.openxmlformats.org/officeDocument/2006/relationships/slide" Target="/ppt/slides/slide10.xml" Id="Re6662abf601b48f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f402ca6cdd64a9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18fdbba11004a51" /><Relationship Type="http://schemas.openxmlformats.org/officeDocument/2006/relationships/notesMaster" Target="/ppt/notesMasters/notesMaster1.xml" Id="Rc2fddb1729b84a52" /></Relationships>
</file>

<file path=ppt/notesSlides/_rels/notesSlide2.xml.rels>&#65279;<?xml version="1.0" encoding="utf-8"?><Relationships xmlns="http://schemas.openxmlformats.org/package/2006/relationships"><Relationship Type="http://schemas.openxmlformats.org/officeDocument/2006/relationships/slide" Target="/ppt/slides/slide2.xml" Id="Ra6b9f9f4ba78442c" /><Relationship Type="http://schemas.openxmlformats.org/officeDocument/2006/relationships/notesMaster" Target="/ppt/notesMasters/notesMaster1.xml" Id="R9a70aff2a12442b9" /></Relationships>
</file>

<file path=ppt/notesSlides/_rels/notesSlide3.xml.rels>&#65279;<?xml version="1.0" encoding="utf-8"?><Relationships xmlns="http://schemas.openxmlformats.org/package/2006/relationships"><Relationship Type="http://schemas.openxmlformats.org/officeDocument/2006/relationships/slide" Target="/ppt/slides/slide3.xml" Id="R915fd9b59f3e4ead" /><Relationship Type="http://schemas.openxmlformats.org/officeDocument/2006/relationships/notesMaster" Target="/ppt/notesMasters/notesMaster1.xml" Id="R7341ae0c023b42fb" /></Relationships>
</file>

<file path=ppt/notesSlides/_rels/notesSlide4.xml.rels>&#65279;<?xml version="1.0" encoding="utf-8"?><Relationships xmlns="http://schemas.openxmlformats.org/package/2006/relationships"><Relationship Type="http://schemas.openxmlformats.org/officeDocument/2006/relationships/slide" Target="/ppt/slides/slide4.xml" Id="Rd361ae52803947da" /><Relationship Type="http://schemas.openxmlformats.org/officeDocument/2006/relationships/notesMaster" Target="/ppt/notesMasters/notesMaster1.xml" Id="R8a3a8b34dd754160" /></Relationships>
</file>

<file path=ppt/notesSlides/_rels/notesSlide5.xml.rels>&#65279;<?xml version="1.0" encoding="utf-8"?><Relationships xmlns="http://schemas.openxmlformats.org/package/2006/relationships"><Relationship Type="http://schemas.openxmlformats.org/officeDocument/2006/relationships/slide" Target="/ppt/slides/slide5.xml" Id="Raedc30e256f54e0e" /><Relationship Type="http://schemas.openxmlformats.org/officeDocument/2006/relationships/notesMaster" Target="/ppt/notesMasters/notesMaster1.xml" Id="R3c20ae79fcfb49fd" /></Relationships>
</file>

<file path=ppt/notesSlides/_rels/notesSlide6.xml.rels>&#65279;<?xml version="1.0" encoding="utf-8"?><Relationships xmlns="http://schemas.openxmlformats.org/package/2006/relationships"><Relationship Type="http://schemas.openxmlformats.org/officeDocument/2006/relationships/slide" Target="/ppt/slides/slide6.xml" Id="R68ace9621ada43b1" /><Relationship Type="http://schemas.openxmlformats.org/officeDocument/2006/relationships/notesMaster" Target="/ppt/notesMasters/notesMaster1.xml" Id="R7de637b348d8449d" /></Relationships>
</file>

<file path=ppt/notesSlides/_rels/notesSlide7.xml.rels>&#65279;<?xml version="1.0" encoding="utf-8"?><Relationships xmlns="http://schemas.openxmlformats.org/package/2006/relationships"><Relationship Type="http://schemas.openxmlformats.org/officeDocument/2006/relationships/slide" Target="/ppt/slides/slide7.xml" Id="R6651a94bf8344f23" /><Relationship Type="http://schemas.openxmlformats.org/officeDocument/2006/relationships/notesMaster" Target="/ppt/notesMasters/notesMaster1.xml" Id="R36336ed03d664c28" /></Relationships>
</file>

<file path=ppt/notesSlides/_rels/notesSlide8.xml.rels>&#65279;<?xml version="1.0" encoding="utf-8"?><Relationships xmlns="http://schemas.openxmlformats.org/package/2006/relationships"><Relationship Type="http://schemas.openxmlformats.org/officeDocument/2006/relationships/slide" Target="/ppt/slides/slide8.xml" Id="Rebdbaadd91a34240" /><Relationship Type="http://schemas.openxmlformats.org/officeDocument/2006/relationships/notesMaster" Target="/ppt/notesMasters/notesMaster1.xml" Id="R76336c9dd17c4701" /></Relationships>
</file>

<file path=ppt/notesSlides/_rels/notesSlide9.xml.rels>&#65279;<?xml version="1.0" encoding="utf-8"?><Relationships xmlns="http://schemas.openxmlformats.org/package/2006/relationships"><Relationship Type="http://schemas.openxmlformats.org/officeDocument/2006/relationships/slide" Target="/ppt/slides/slide9.xml" Id="Rcc534d4bdc4b4574" /><Relationship Type="http://schemas.openxmlformats.org/officeDocument/2006/relationships/notesMaster" Target="/ppt/notesMasters/notesMaster1.xml" Id="Rc28a90018b9e41d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8790e3b6ac04ef2" /><Relationship Type="http://schemas.openxmlformats.org/officeDocument/2006/relationships/notesMaster" Target="/ppt/notesMasters/notesMaster1.xml" Id="Rfde036d222ba474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20초</a:t>
            </a:r>
          </a:p>
          <a:p xmlns:a="http://schemas.openxmlformats.org/drawingml/2006/main">
            <a:r>
              <a:t/>
            </a:r>
          </a:p>
          <a:p xmlns:a="http://schemas.openxmlformats.org/drawingml/2006/main">
            <a:r>
              <a:t>안녕하세요. 데이터 분석 훈련 에이전트 DA-Agent를 소개하겠습니다. 프로젝트를 만든 목적과 주요 기능을 설명하고, 앞으로 개선할 사항을 말씀드리겠습니다.</a:t>
            </a:r>
          </a:p>
          <a:p xmlns:a="http://schemas.openxmlformats.org/drawingml/2006/main">
            <a:r>
              <a:t/>
            </a:r>
          </a:p>
          <a:p xmlns:a="http://schemas.openxmlformats.org/drawingml/2006/main">
            <a:r>
              <a:t>근거 자료</a:t>
            </a:r>
          </a:p>
          <a:p xmlns:a="http://schemas.openxmlformats.org/drawingml/2006/main">
            <a:r>
              <a:t>D:/Codex/DA-Agent/README.md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50초</a:t>
            </a:r>
          </a:p>
          <a:p xmlns:a="http://schemas.openxmlformats.org/drawingml/2006/main">
            <a:r>
              <a:t/>
            </a:r>
          </a:p>
          <a:p xmlns:a="http://schemas.openxmlformats.org/drawingml/2006/main">
            <a:r>
              <a:t>이 프로젝트의 목적은 데이터 분석을 통해 논리적 사고력을 높이는 것입니다. SQL 문법을 알아도 실제 업무에서는 어떤 지표를 볼지, 무엇과 비교할지, 결과를 어디까지 해석할지 결정해야 합니다. DA-Agent는 게임 데이터 분석 상황을 문제로 제시하고 연습용 데이터를 준비합니다. 사용자는 지표와 조건을 정하고 데이터를 확인한 다음 근거를 연결해 보고서를 작성합니다. 에이전트는 질문과 피드백을 제공합니다. 이 과정을 반복하면서 데이터를 근거로 생각하고 자신의 판단을 논리적으로 설명하는 능력을 기르는 것이 목표입니다.</a:t>
            </a:r>
          </a:p>
          <a:p xmlns:a="http://schemas.openxmlformats.org/drawingml/2006/main">
            <a:r>
              <a:t/>
            </a:r>
          </a:p>
          <a:p xmlns:a="http://schemas.openxmlformats.org/drawingml/2006/main">
            <a:r>
              <a:t>근거 자료</a:t>
            </a:r>
          </a:p>
          <a:p xmlns:a="http://schemas.openxmlformats.org/drawingml/2006/main">
            <a:r>
              <a:t>D:/Codex/DA-Agent/docs/PRD-v1.md</a:t>
            </a:r>
          </a:p>
          <a:p xmlns:a="http://schemas.openxmlformats.org/drawingml/2006/main">
            <a:r>
              <a:t>D:/Codex/DA-Agent/docs/PRD-v2.md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40초</a:t>
            </a:r>
          </a:p>
          <a:p xmlns:a="http://schemas.openxmlformats.org/drawingml/2006/main">
            <a:r>
              <a:t/>
            </a:r>
          </a:p>
          <a:p xmlns:a="http://schemas.openxmlformats.org/drawingml/2006/main">
            <a:r>
              <a:t>웹은 분석 작업을 한 화면에서 정리하는 훈련 환경입니다. 원하는 주제와 난이도를 입력해 문제를 준비하고, 데이터 사전을 보면서 SQL을 직접 작성해 실행합니다. 필요한 SQL과 결과를 저장하면 보고서의 근거로 연결할 수 있습니다. 보고서에는 발견한 내용과 한계, 다음 행동을 적고 리뷰를 받은 뒤 수정합니다. 저장한 훈련은 다시 이어 할 수 있습니다. 이후에는 이 훈련 경험을 Discord에서도 제공하도록 확장했습니다.</a:t>
            </a:r>
          </a:p>
          <a:p xmlns:a="http://schemas.openxmlformats.org/drawingml/2006/main">
            <a:r>
              <a:t/>
            </a:r>
          </a:p>
          <a:p xmlns:a="http://schemas.openxmlformats.org/drawingml/2006/main">
            <a:r>
              <a:t>근거 자료</a:t>
            </a:r>
          </a:p>
          <a:p xmlns:a="http://schemas.openxmlformats.org/drawingml/2006/main">
            <a:r>
              <a:t>D:/Codex/DA-Agent/src/da_agent/static/index.html</a:t>
            </a:r>
          </a:p>
          <a:p xmlns:a="http://schemas.openxmlformats.org/drawingml/2006/main">
            <a:r>
              <a:t>D:/Codex/DA-Agent/specs/017-sql-workspace-and-editor.md</a:t>
            </a:r>
          </a:p>
          <a:p xmlns:a="http://schemas.openxmlformats.org/drawingml/2006/main">
            <a:r>
              <a:t>D:/Codex/DA-Agent/tests/artifacts/sql-workspace-browser-2026-10-05/live-sql-1280.png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45초</a:t>
            </a:r>
          </a:p>
          <a:p xmlns:a="http://schemas.openxmlformats.org/drawingml/2006/main">
            <a:r>
              <a:t/>
            </a:r>
          </a:p>
          <a:p xmlns:a="http://schemas.openxmlformats.org/drawingml/2006/main">
            <a:r>
              <a:t>Discord 기능의 목적은 웹으로 이동하지 않고 가상의 데이터팀과 대화하는 방식으로 분석을 연습하는 것입니다. 원하는 주제와 목표를 입력하고 분석 연습 또는 SQL 연습을 선택합니다. 난이도는 초급, 중급, 고급으로 나뉩니다. 준비가 끝나면 과제별 스레드에서 문제와 데이터를 확인합니다. 분석 연습은 데이터를 조회하고 원인을 해석하는 활동에, SQL 연습은 직접 쿼리를 작성하고 수정하는 활동에 초점을 둡니다. 사용자는 문제를 이해하면서 필요한 용어와 분석 방향에 도움을 받을 수 있습니다.</a:t>
            </a:r>
          </a:p>
          <a:p xmlns:a="http://schemas.openxmlformats.org/drawingml/2006/main">
            <a:r>
              <a:t/>
            </a:r>
          </a:p>
          <a:p xmlns:a="http://schemas.openxmlformats.org/drawingml/2006/main">
            <a:r>
              <a:t>근거 자료</a:t>
            </a:r>
          </a:p>
          <a:p xmlns:a="http://schemas.openxmlformats.org/drawingml/2006/main">
            <a:r>
              <a:t>D:/Codex/DA-Agent/docs/prd-discord.md</a:t>
            </a:r>
          </a:p>
          <a:p xmlns:a="http://schemas.openxmlformats.org/drawingml/2006/main">
            <a:r>
              <a:t>D:/Codex/DA-Agent/src/da_agent/discord_bot.py</a:t>
            </a:r>
          </a:p>
          <a:p xmlns:a="http://schemas.openxmlformats.org/drawingml/2006/main">
            <a:r>
              <a:t>D:/Codex/DA-Agent/.local/work/presentation-3designs-20261007/c-trainingstart-20261008/discord-training-start-user.png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50초</a:t>
            </a:r>
          </a:p>
          <a:p xmlns:a="http://schemas.openxmlformats.org/drawingml/2006/main">
            <a:r>
              <a:t/>
            </a:r>
          </a:p>
          <a:p xmlns:a="http://schemas.openxmlformats.org/drawingml/2006/main">
            <a:r>
              <a:t>분석 연습에서는 채널별 완료율을 비교해 달라는 식으로 자연어 요청을 입력합니다. 필요한 조건이 모호하면 에이전트가 기간이나 분모를 확인하고 현재 문제의 데이터로 실제 조회를 실행합니다. 결과는 표로 확인하며 보고서의 근거로 선택할 수 있습니다. 분석 방향과 중간 검토를 돕는 대화와 용어 설명도 제공합니다. 사용자는 결과를 보고 자신의 가설과 결론을 작성합니다. 특정 채널의 완료율이 높아도 이용자의 경험 수준이 달라 생긴 차이인지 추가로 검토하는 식으로 판단을 발전시킵니다.</a:t>
            </a:r>
          </a:p>
          <a:p xmlns:a="http://schemas.openxmlformats.org/drawingml/2006/main">
            <a:r>
              <a:t/>
            </a:r>
          </a:p>
          <a:p xmlns:a="http://schemas.openxmlformats.org/drawingml/2006/main">
            <a:r>
              <a:t>근거 자료</a:t>
            </a:r>
          </a:p>
          <a:p xmlns:a="http://schemas.openxmlformats.org/drawingml/2006/main">
            <a:r>
              <a:t>D:/Codex/DA-Agent/docs/prd-discord.md</a:t>
            </a:r>
          </a:p>
          <a:p xmlns:a="http://schemas.openxmlformats.org/drawingml/2006/main">
            <a:r>
              <a:t>D:/Codex/DA-Agent/specs/053-discord-natural-language-public-query.md</a:t>
            </a:r>
          </a:p>
          <a:p xmlns:a="http://schemas.openxmlformats.org/drawingml/2006/main">
            <a:r>
              <a:t>D:/Codex/DA-Agent/specs/039-discord-term-question.md</a:t>
            </a:r>
          </a:p>
          <a:p xmlns:a="http://schemas.openxmlformats.org/drawingml/2006/main">
            <a:r>
              <a:t>D:/Codex/DA-Agent/tests/artifacts/discord-tables/discord-query.jpg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50초</a:t>
            </a:r>
          </a:p>
          <a:p xmlns:a="http://schemas.openxmlformats.org/drawingml/2006/main">
            <a:r>
              <a:t/>
            </a:r>
          </a:p>
          <a:p xmlns:a="http://schemas.openxmlformats.org/drawingml/2006/main">
            <a:r>
              <a:t>SQL 연습에서는 원하는 주제로 문제와 합성 데이터, 데이터 사전, 계산 조건과 출력 형식을 준비합니다. 사용자는 SQL을 직접 작성해 실행하고 오류 안내를 보면서 수정합니다. 결과를 확인한 뒤 풀이 평가를 요청하면 값과 출력 형식, 검산 방법을 평가합니다. 화면은 실제 운영 봇에서 채널별 D7 리텐션을 조회한 사례입니다. 분모에 누구를 포함하고 관측 기간을 어떻게 적용할지 조건을 정해 직접 구현합니다. 화면의 수치는 훈련용 합성 데이터입니다.</a:t>
            </a:r>
          </a:p>
          <a:p xmlns:a="http://schemas.openxmlformats.org/drawingml/2006/main">
            <a:r>
              <a:t/>
            </a:r>
          </a:p>
          <a:p xmlns:a="http://schemas.openxmlformats.org/drawingml/2006/main">
            <a:r>
              <a:t>근거 자료</a:t>
            </a:r>
          </a:p>
          <a:p xmlns:a="http://schemas.openxmlformats.org/drawingml/2006/main">
            <a:r>
              <a:t>D:/Codex/DA-Agent/specs/058-text-generated-sql-practice.md</a:t>
            </a:r>
          </a:p>
          <a:p xmlns:a="http://schemas.openxmlformats.org/drawingml/2006/main">
            <a:r>
              <a:t>D:/Codex/DA-Agent/specs/059-sql-problem-template.md</a:t>
            </a:r>
          </a:p>
          <a:p xmlns:a="http://schemas.openxmlformats.org/drawingml/2006/main">
            <a:r>
              <a:t>D:/Codex/DA-Agent/tests/reports/release-text-sql-2026-10-07.md</a:t>
            </a:r>
          </a:p>
          <a:p xmlns:a="http://schemas.openxmlformats.org/drawingml/2006/main">
            <a:r>
              <a:t>D:/Codex/DA-Agent/tests/reports/release-sql-problem-template-2026-10-07.md</a:t>
            </a:r>
          </a:p>
          <a:p xmlns:a="http://schemas.openxmlformats.org/drawingml/2006/main">
            <a:r>
              <a:t>D:/Codex/DA-Agent/tests/artifacts/sql-problem-template-release-2026-10-07/discord-sql-execution.png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40초</a:t>
            </a:r>
          </a:p>
          <a:p xmlns:a="http://schemas.openxmlformats.org/drawingml/2006/main">
            <a:r>
              <a:t/>
            </a:r>
          </a:p>
          <a:p xmlns:a="http://schemas.openxmlformats.org/drawingml/2006/main">
            <a:r>
              <a:t>분석 연습에서는 결론과 근거를 작성하고 후속 질문에 답한 뒤 최종 평가를 요청합니다. 결과는 DA-Result 포럼에 요약과 피드백으로 남으며 PDF로 다운로드할 수 있습니다. 저장한 기록을 다시 열어 훈련을 이어 하거나 완료된 결과를 확인할 수도 있습니다. 수정 보고는 이전 버전을 보존합니다. 분석 평가의 신뢰성 검사가 부족하면 점수를 보류하고 이유와 다음 행동을 안내합니다. 기능의 동작과 평가 품질은 각각 확인해야 합니다.</a:t>
            </a:r>
          </a:p>
          <a:p xmlns:a="http://schemas.openxmlformats.org/drawingml/2006/main">
            <a:r>
              <a:t/>
            </a:r>
          </a:p>
          <a:p xmlns:a="http://schemas.openxmlformats.org/drawingml/2006/main">
            <a:r>
              <a:t>근거 자료</a:t>
            </a:r>
          </a:p>
          <a:p xmlns:a="http://schemas.openxmlformats.org/drawingml/2006/main">
            <a:r>
              <a:t>D:/Codex/DA-Agent/src/da_agent/discord_bot.py</a:t>
            </a:r>
          </a:p>
          <a:p xmlns:a="http://schemas.openxmlformats.org/drawingml/2006/main">
            <a:r>
              <a:t>D:/Codex/DA-Agent/specs/042-trustworthy-evaluation-quality-loop.md</a:t>
            </a:r>
          </a:p>
          <a:p xmlns:a="http://schemas.openxmlformats.org/drawingml/2006/main">
            <a:r>
              <a:t>D:/Codex/DA-Agent/tests/reports/release-text-sql-2026-10-07.md</a:t>
            </a:r>
          </a:p>
          <a:p xmlns:a="http://schemas.openxmlformats.org/drawingml/2006/main">
            <a:r>
              <a:t>D:/Codex/DA-Agent/tests/artifacts/spec058-release-2026-10-07/discord-result.png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40초</a:t>
            </a:r>
          </a:p>
          <a:p xmlns:a="http://schemas.openxmlformats.org/drawingml/2006/main">
            <a:r>
              <a:t/>
            </a:r>
          </a:p>
          <a:p xmlns:a="http://schemas.openxmlformats.org/drawingml/2006/main">
            <a:r>
              <a:t>앞에서 설명한 기능에 사용하는 주요 명령어를 표로 모았습니다. 훈련 시작, 데이터 조회, 도움 요청, 보고와 평가, 기록 재개의 순서로 보면 됩니다. 자연어 분석에는 data를 사용하고 직접 작성한 SQL의 실행에는 sqlrun을 사용합니다. sql은 이미 실행된 SQL을 확인하는 기능입니다. 분석 보고서를 작성한 뒤에는 후속 질문에 답하고 최종 평가를 요청합니다. 모든 명령어를 외우기보다는 자신이 지금 수행할 단계에 맞춰 표를 참고하면 됩니다.</a:t>
            </a:r>
          </a:p>
          <a:p xmlns:a="http://schemas.openxmlformats.org/drawingml/2006/main">
            <a:r>
              <a:t/>
            </a:r>
          </a:p>
          <a:p xmlns:a="http://schemas.openxmlformats.org/drawingml/2006/main">
            <a:r>
              <a:t>근거 자료</a:t>
            </a:r>
          </a:p>
          <a:p xmlns:a="http://schemas.openxmlformats.org/drawingml/2006/main">
            <a:r>
              <a:t>D:/Codex/DA-Agent/src/da_agent/discord_bot.py</a:t>
            </a:r>
          </a:p>
          <a:p xmlns:a="http://schemas.openxmlformats.org/drawingml/2006/main">
            <a:r>
              <a:t>D:/Codex/DA-Agent/src/da_agent/discord_presentation.py</a:t>
            </a:r>
          </a:p>
          <a:p xmlns:a="http://schemas.openxmlformats.org/drawingml/2006/main">
            <a:r>
              <a:t>D:/Codex/DA-Agent/src/da_agent/discord_service.py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75초</a:t>
            </a:r>
          </a:p>
          <a:p xmlns:a="http://schemas.openxmlformats.org/drawingml/2006/main">
            <a:r>
              <a:t/>
            </a:r>
          </a:p>
          <a:p xmlns:a="http://schemas.openxmlformats.org/drawingml/2006/main">
            <a:r>
              <a:t>문제의 품질을 높이기 위해 난이도별 비교와 판단 수준을 구분하고, 실무 사례에 좀 더 밀접하게 출제할 계획입니다. 평가의 품질을 높이기 위해 실무에서 분석 결과를 판단할 때 사용하는 평가 기준을 조사하고, 이를 평가 지침에 반영하려고 합니다.</a:t>
            </a:r>
          </a:p>
          <a:p xmlns:a="http://schemas.openxmlformats.org/drawingml/2006/main">
            <a:r>
              <a:t/>
            </a:r>
          </a:p>
          <a:p xmlns:a="http://schemas.openxmlformats.org/drawingml/2006/main">
            <a:r>
              <a:t>근거 자료</a:t>
            </a:r>
          </a:p>
          <a:p xmlns:a="http://schemas.openxmlformats.org/drawingml/2006/main">
            <a:r>
              <a:t>나의판단과근거.md</a:t>
            </a:r>
          </a:p>
          <a:p xmlns:a="http://schemas.openxmlformats.org/drawingml/2006/main">
            <a:r>
              <a:t>specs/018-business-task-quality.md</a:t>
            </a:r>
          </a:p>
          <a:p xmlns:a="http://schemas.openxmlformats.org/drawingml/2006/main">
            <a:r>
              <a:t>specs/042-trustworthy-evaluation-quality-loop.md</a:t>
            </a:r>
          </a:p>
          <a:p xmlns:a="http://schemas.openxmlformats.org/drawingml/2006/main">
            <a:r>
              <a:t>docs/evaluation-quality-workflow.md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55초</a:t>
            </a:r>
          </a:p>
          <a:p xmlns:a="http://schemas.openxmlformats.org/drawingml/2006/main">
            <a:r>
              <a:t/>
            </a:r>
          </a:p>
          <a:p xmlns:a="http://schemas.openxmlformats.org/drawingml/2006/main">
            <a:r>
              <a:t>두 번째 개선 과제는 조회 결과의 시각화입니다. 현재 Discord에서 자연어로 데이터를 요청하면 조회 결과를 표 이미지로 확인하고 수집 데이터를 파일로 받을 수 있습니다. 숫자와 표는 정확한 값을 확인하는 데 유용하지만 시간에 따른 변화나 그룹 간 차이를 한눈에 파악하기에는 한계가 있습니다. 그래서 조회 단계에 시각화 도구를 연결해 분석 목적에 맞는 도표로 확인하도록 개선하려고 합니다. 항목 비교는 막대그래프, 시간 변화는 선그래프, 분포는 히스토그램 등으로 보여주는 방식입니다. 도표는 실제 조회 결과를 사용하고 기간과 단위도 함께 표시해 원래 표와 확인할 수 있게 할 계획입니다. 결과 PDF에는 일부 막대그래프가 이미 있으므로 앞으로의 개선은 조회 직후에도 다양한 도표로 탐색할 수 있도록 확장하는 데 초점을 둡니다.</a:t>
            </a:r>
          </a:p>
          <a:p xmlns:a="http://schemas.openxmlformats.org/drawingml/2006/main">
            <a:r>
              <a:t/>
            </a:r>
          </a:p>
          <a:p xmlns:a="http://schemas.openxmlformats.org/drawingml/2006/main">
            <a:r>
              <a:t>근거 자료</a:t>
            </a:r>
          </a:p>
          <a:p xmlns:a="http://schemas.openxmlformats.org/drawingml/2006/main">
            <a:r>
              <a:t>D:/Codex/DA-Agent/나의판단과근거.md</a:t>
            </a:r>
          </a:p>
          <a:p xmlns:a="http://schemas.openxmlformats.org/drawingml/2006/main">
            <a:r>
              <a:t>D:/Codex/DA-Agent/src/da_agent/discord_tables.py</a:t>
            </a:r>
          </a:p>
          <a:p xmlns:a="http://schemas.openxmlformats.org/drawingml/2006/main">
            <a:r>
              <a:t>D:/Codex/DA-Agent/src/da_agent/discord_bot.py</a:t>
            </a:r>
          </a:p>
          <a:p xmlns:a="http://schemas.openxmlformats.org/drawingml/2006/main">
            <a:r>
              <a:t>D:/Codex/DA-Agent/src/da_agent/discord_pdf_evidence.py</a:t>
            </a:r>
          </a:p>
          <a:p xmlns:a="http://schemas.openxmlformats.org/drawingml/2006/main">
            <a:r>
              <a:t>D:/Codex/DA-Agent/specs/053-discord-natural-language-public-query.md</a:t>
            </a:r>
          </a:p>
          <a:p xmlns:a="http://schemas.openxmlformats.org/drawingml/2006/main">
            <a:r>
              <a:t>D:/Codex/DA-Agent/specs/038-discord-result-pdf.md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b36c62593f1467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a897c93629648d8" /><Relationship Type="http://schemas.openxmlformats.org/officeDocument/2006/relationships/slideLayout" Target="/ppt/slideLayouts/slideLayout1.xml" Id="R411117e52d3e41a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11117e52d3e41a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d35c7d8227e40a4" /><Relationship Type="http://schemas.openxmlformats.org/officeDocument/2006/relationships/notesSlide" Target="/ppt/notesSlides/notesSlide1.xml" Id="R8221554edd284c0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4e4950d85584719" /><Relationship Type="http://schemas.openxmlformats.org/officeDocument/2006/relationships/notesSlide" Target="/ppt/notesSlides/notesSlide2.xml" Id="R49eea037756640a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df96526fc2b4f95" /><Relationship Type="http://schemas.openxmlformats.org/officeDocument/2006/relationships/image" Target="/ppt/media/image.png" Id="R9481e5dd011d4374" /><Relationship Type="http://schemas.openxmlformats.org/officeDocument/2006/relationships/notesSlide" Target="/ppt/notesSlides/notesSlide3.xml" Id="R75678f4ea75a476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96fa38c1591417d" /><Relationship Type="http://schemas.openxmlformats.org/officeDocument/2006/relationships/image" Target="/ppt/media/image2.png" Id="R32c56635d90b4b4e" /><Relationship Type="http://schemas.openxmlformats.org/officeDocument/2006/relationships/notesSlide" Target="/ppt/notesSlides/notesSlide4.xml" Id="R5fd3db99ad3448d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e6e9464cd9a461b" /><Relationship Type="http://schemas.openxmlformats.org/officeDocument/2006/relationships/image" Target="/ppt/media/image.jpeg" Id="R0df6e2dabc9e4f31" /><Relationship Type="http://schemas.openxmlformats.org/officeDocument/2006/relationships/notesSlide" Target="/ppt/notesSlides/notesSlide5.xml" Id="R917c0b8d88fe4db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8e0ba4269e04e37" /><Relationship Type="http://schemas.openxmlformats.org/officeDocument/2006/relationships/image" Target="/ppt/media/image2.jpeg" Id="R6b7a667431494ebd" /><Relationship Type="http://schemas.openxmlformats.org/officeDocument/2006/relationships/notesSlide" Target="/ppt/notesSlides/notesSlide6.xml" Id="R9728fefc28ef4cf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c9377343ceb48e3" /><Relationship Type="http://schemas.openxmlformats.org/officeDocument/2006/relationships/image" Target="/ppt/media/image3.jpeg" Id="R9b89f187c75b4649" /><Relationship Type="http://schemas.openxmlformats.org/officeDocument/2006/relationships/notesSlide" Target="/ppt/notesSlides/notesSlide7.xml" Id="R816aedcf4f284e6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c37aed84c90424d" /><Relationship Type="http://schemas.openxmlformats.org/officeDocument/2006/relationships/notesSlide" Target="/ppt/notesSlides/notesSlide8.xml" Id="R3a0a07b7fec9482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9889b6cb2694853" /><Relationship Type="http://schemas.openxmlformats.org/officeDocument/2006/relationships/notesSlide" Target="/ppt/notesSlides/notesSlide9.xml" Id="R0a3dbe740c0e4a9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fb37207223746ca" /><Relationship Type="http://schemas.openxmlformats.org/officeDocument/2006/relationships/notesSlide" Target="/ppt/notesSlides/notesSlide10.xml" Id="Rb268f9c167bd41c5" /></Relationships>
</file>

<file path=ppt/slides/slide1.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6" name="과제 발표">
            <a:extLst xmlns:a="http://schemas.openxmlformats.org/drawingml/2006/main">
              <a:ext uri="{FF2B5EF4-FFF2-40B4-BE49-F238E27FC236}">
                <a16:creationId xmlns:a16="http://schemas.microsoft.com/office/drawing/2014/main" id="{D0087324-3FE3-4114-A0B2-02B7D63E4E89}"/>
              </a:ext>
            </a:extLst>
          </p:cNvPr>
          <p:cNvSpPr>
            <a:spLocks xmlns:a="http://schemas.openxmlformats.org/drawingml/2006/main" noGrp="1"/>
          </p:cNvSpPr>
          <p:nvPr/>
        </p:nvSpPr>
        <p:spPr>
          <a:xfrm xmlns:a="http://schemas.openxmlformats.org/drawingml/2006/main">
            <a:off x="666750" y="571500"/>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586240"/>
                </a:solidFill>
                <a:latin typeface="Malgun Gothic"/>
                <a:ea typeface="Malgun Gothic"/>
                <a:cs typeface="Malgun Gothic"/>
              </a:defRPr>
            </a:pPr>
            <a:r>
              <a:rPr sz="1800" b="1">
                <a:solidFill>
                  <a:srgbClr val="586240"/>
                </a:solidFill>
                <a:latin typeface="Malgun Gothic"/>
                <a:ea typeface="Malgun Gothic"/>
                <a:cs typeface="Malgun Gothic"/>
              </a:rPr>
              <a:t>과제 발표</a:t>
            </a:r>
          </a:p>
        </p:txBody>
      </p:sp>
      <p:sp>
        <p:nvSpPr>
          <p:cNvPr id="2" name="2026.10.07">
            <a:extLst xmlns:a="http://schemas.openxmlformats.org/drawingml/2006/main">
              <a:ext uri="{FF2B5EF4-FFF2-40B4-BE49-F238E27FC236}">
                <a16:creationId xmlns:a16="http://schemas.microsoft.com/office/drawing/2014/main" id="{17B6CB78-12CB-4459-81B9-EA02A2D8DBDC}"/>
              </a:ext>
            </a:extLst>
          </p:cNvPr>
          <p:cNvSpPr>
            <a:spLocks xmlns:a="http://schemas.openxmlformats.org/drawingml/2006/main" noGrp="1"/>
          </p:cNvSpPr>
          <p:nvPr/>
        </p:nvSpPr>
        <p:spPr>
          <a:xfrm xmlns:a="http://schemas.openxmlformats.org/drawingml/2006/main">
            <a:off x="9210675" y="571500"/>
            <a:ext cx="23717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797468"/>
                </a:solidFill>
                <a:latin typeface="Malgun Gothic"/>
                <a:ea typeface="Malgun Gothic"/>
                <a:cs typeface="Malgun Gothic"/>
              </a:defRPr>
            </a:pPr>
            <a:r>
              <a:rPr sz="1800" b="0">
                <a:solidFill>
                  <a:srgbClr val="797468"/>
                </a:solidFill>
                <a:latin typeface="Malgun Gothic"/>
                <a:ea typeface="Malgun Gothic"/>
                <a:cs typeface="Malgun Gothic"/>
              </a:rPr>
              <a:t>2026.10.07</a:t>
            </a:r>
          </a:p>
        </p:txBody>
      </p:sp>
      <p:sp>
        <p:nvSpPr>
          <p:cNvPr id="3" name="DA-Agent">
            <a:extLst xmlns:a="http://schemas.openxmlformats.org/drawingml/2006/main">
              <a:ext uri="{FF2B5EF4-FFF2-40B4-BE49-F238E27FC236}">
                <a16:creationId xmlns:a16="http://schemas.microsoft.com/office/drawing/2014/main" id="{F2482AE6-EB9A-43CF-92CD-63D25DD7597C}"/>
              </a:ext>
            </a:extLst>
          </p:cNvPr>
          <p:cNvSpPr>
            <a:spLocks xmlns:a="http://schemas.openxmlformats.org/drawingml/2006/main" noGrp="1"/>
          </p:cNvSpPr>
          <p:nvPr/>
        </p:nvSpPr>
        <p:spPr>
          <a:xfrm xmlns:a="http://schemas.openxmlformats.org/drawingml/2006/main">
            <a:off x="619125" y="1943100"/>
            <a:ext cx="10953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150" b="1">
                <a:solidFill>
                  <a:srgbClr val="652A3A"/>
                </a:solidFill>
                <a:latin typeface="Malgun Gothic"/>
                <a:ea typeface="Malgun Gothic"/>
                <a:cs typeface="Malgun Gothic"/>
              </a:defRPr>
            </a:pPr>
            <a:r>
              <a:rPr sz="9150" b="1">
                <a:solidFill>
                  <a:srgbClr val="652A3A"/>
                </a:solidFill>
                <a:latin typeface="Malgun Gothic"/>
                <a:ea typeface="Malgun Gothic"/>
                <a:cs typeface="Malgun Gothic"/>
              </a:rPr>
              <a:t>DA-Agent</a:t>
            </a:r>
          </a:p>
        </p:txBody>
      </p:sp>
      <p:sp>
        <p:nvSpPr>
          <p:cNvPr id="4" name="데이터 분석 훈련 에이전트">
            <a:extLst xmlns:a="http://schemas.openxmlformats.org/drawingml/2006/main">
              <a:ext uri="{FF2B5EF4-FFF2-40B4-BE49-F238E27FC236}">
                <a16:creationId xmlns:a16="http://schemas.microsoft.com/office/drawing/2014/main" id="{4691F247-62CA-4AD7-812C-C6BFB0C8B231}"/>
              </a:ext>
            </a:extLst>
          </p:cNvPr>
          <p:cNvSpPr>
            <a:spLocks xmlns:a="http://schemas.openxmlformats.org/drawingml/2006/main" noGrp="1"/>
          </p:cNvSpPr>
          <p:nvPr/>
        </p:nvSpPr>
        <p:spPr>
          <a:xfrm xmlns:a="http://schemas.openxmlformats.org/drawingml/2006/main">
            <a:off x="704850" y="3705225"/>
            <a:ext cx="10382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0">
                <a:solidFill>
                  <a:srgbClr val="302E29"/>
                </a:solidFill>
                <a:latin typeface="Malgun Gothic"/>
                <a:ea typeface="Malgun Gothic"/>
                <a:cs typeface="Malgun Gothic"/>
              </a:defRPr>
            </a:pPr>
            <a:r>
              <a:rPr sz="3450" b="0">
                <a:solidFill>
                  <a:srgbClr val="302E29"/>
                </a:solidFill>
                <a:latin typeface="Malgun Gothic"/>
                <a:ea typeface="Malgun Gothic"/>
                <a:cs typeface="Malgun Gothic"/>
              </a:rPr>
              <a:t>데이터 분석 훈련 에이전트</a:t>
            </a:r>
          </a:p>
        </p:txBody>
      </p:sp>
      <p:sp>
        <p:nvSpPr>
          <p:cNvPr id="5" name="프로젝트 목적  /  프로젝트 개발 순서  /  웹과 Discord 기능">
            <a:extLst xmlns:a="http://schemas.openxmlformats.org/drawingml/2006/main">
              <a:ext uri="{FF2B5EF4-FFF2-40B4-BE49-F238E27FC236}">
                <a16:creationId xmlns:a16="http://schemas.microsoft.com/office/drawing/2014/main" id="{5432F943-88E2-4F43-B801-6AC1696A238B}"/>
              </a:ext>
            </a:extLst>
          </p:cNvPr>
          <p:cNvSpPr>
            <a:spLocks xmlns:a="http://schemas.openxmlformats.org/drawingml/2006/main" noGrp="1"/>
          </p:cNvSpPr>
          <p:nvPr/>
        </p:nvSpPr>
        <p:spPr>
          <a:xfrm xmlns:a="http://schemas.openxmlformats.org/drawingml/2006/main">
            <a:off x="704850" y="5667375"/>
            <a:ext cx="10744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797468"/>
                </a:solidFill>
                <a:latin typeface="Malgun Gothic"/>
                <a:ea typeface="Malgun Gothic"/>
                <a:cs typeface="Malgun Gothic"/>
              </a:defRPr>
            </a:pPr>
            <a:r>
              <a:rPr sz="1800" b="0">
                <a:solidFill>
                  <a:srgbClr val="797468"/>
                </a:solidFill>
                <a:latin typeface="Malgun Gothic"/>
                <a:ea typeface="Malgun Gothic"/>
                <a:cs typeface="Malgun Gothic"/>
              </a:rPr>
              <a:t>프로젝트 목적  /  웹과 Discord 기능  /  개선 사항</a:t>
            </a:r>
          </a:p>
        </p:txBody>
      </p:sp>
    </p:spTree>
    <p:extLst>
      <p:ext uri="{BB962C8B-B14F-4D97-AF65-F5344CB8AC3E}">
        <p14:creationId xmlns:p14="http://schemas.microsoft.com/office/powerpoint/2010/main" val="18847417"/>
      </p:ext>
    </p:extLst>
  </p:cSld>
</p:sld>
</file>

<file path=ppt/slides/slide2.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10" name="01">
            <a:extLst xmlns:a="http://schemas.openxmlformats.org/drawingml/2006/main">
              <a:ext uri="{FF2B5EF4-FFF2-40B4-BE49-F238E27FC236}">
                <a16:creationId xmlns:a16="http://schemas.microsoft.com/office/drawing/2014/main" id="{CF7ED23F-84F9-443E-9707-7C4F94A26036}"/>
              </a:ext>
            </a:extLst>
          </p:cNvPr>
          <p:cNvSpPr>
            <a:spLocks xmlns:a="http://schemas.openxmlformats.org/drawingml/2006/main" noGrp="1"/>
          </p:cNvSpPr>
          <p:nvPr/>
        </p:nvSpPr>
        <p:spPr>
          <a:xfrm xmlns:a="http://schemas.openxmlformats.org/drawingml/2006/main">
            <a:off x="609600" y="457200"/>
            <a:ext cx="1238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350" b="1">
                <a:solidFill>
                  <a:srgbClr val="652A3A"/>
                </a:solidFill>
                <a:latin typeface="Malgun Gothic"/>
                <a:ea typeface="Malgun Gothic"/>
                <a:cs typeface="Malgun Gothic"/>
              </a:defRPr>
            </a:pPr>
            <a:r>
              <a:rPr sz="4350" b="1">
                <a:solidFill>
                  <a:srgbClr val="652A3A"/>
                </a:solidFill>
                <a:latin typeface="Malgun Gothic"/>
                <a:ea typeface="Malgun Gothic"/>
                <a:cs typeface="Malgun Gothic"/>
              </a:rPr>
              <a:t>01</a:t>
            </a:r>
          </a:p>
        </p:txBody>
      </p:sp>
      <p:sp>
        <p:nvSpPr>
          <p:cNvPr id="2" name="목적">
            <a:extLst xmlns:a="http://schemas.openxmlformats.org/drawingml/2006/main">
              <a:ext uri="{FF2B5EF4-FFF2-40B4-BE49-F238E27FC236}">
                <a16:creationId xmlns:a16="http://schemas.microsoft.com/office/drawing/2014/main" id="{D9AB585B-18C4-417A-B255-5D1B9F9C5D35}"/>
              </a:ext>
            </a:extLst>
          </p:cNvPr>
          <p:cNvSpPr>
            <a:spLocks xmlns:a="http://schemas.openxmlformats.org/drawingml/2006/main" noGrp="1"/>
          </p:cNvSpPr>
          <p:nvPr/>
        </p:nvSpPr>
        <p:spPr>
          <a:xfrm xmlns:a="http://schemas.openxmlformats.org/drawingml/2006/main">
            <a:off x="609600" y="1314450"/>
            <a:ext cx="12763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797468"/>
                </a:solidFill>
                <a:latin typeface="Malgun Gothic"/>
                <a:ea typeface="Malgun Gothic"/>
                <a:cs typeface="Malgun Gothic"/>
              </a:defRPr>
            </a:pPr>
            <a:r>
              <a:rPr sz="1725" b="0">
                <a:solidFill>
                  <a:srgbClr val="797468"/>
                </a:solidFill>
                <a:latin typeface="Malgun Gothic"/>
                <a:ea typeface="Malgun Gothic"/>
                <a:cs typeface="Malgun Gothic"/>
              </a:rPr>
              <a:t>목적</a:t>
            </a:r>
          </a:p>
        </p:txBody>
      </p:sp>
      <p:sp>
        <p:nvSpPr>
          <p:cNvPr id="3" name="프로젝트 목적">
            <a:extLst xmlns:a="http://schemas.openxmlformats.org/drawingml/2006/main">
              <a:ext uri="{FF2B5EF4-FFF2-40B4-BE49-F238E27FC236}">
                <a16:creationId xmlns:a16="http://schemas.microsoft.com/office/drawing/2014/main" id="{47C269E6-C7D5-4FE8-BF84-48AA2467C70D}"/>
              </a:ext>
            </a:extLst>
          </p:cNvPr>
          <p:cNvSpPr>
            <a:spLocks xmlns:a="http://schemas.openxmlformats.org/drawingml/2006/main" noGrp="1"/>
          </p:cNvSpPr>
          <p:nvPr/>
        </p:nvSpPr>
        <p:spPr>
          <a:xfrm xmlns:a="http://schemas.openxmlformats.org/drawingml/2006/main">
            <a:off x="2381250" y="542925"/>
            <a:ext cx="91059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652A3A"/>
                </a:solidFill>
                <a:latin typeface="Malgun Gothic"/>
                <a:ea typeface="Malgun Gothic"/>
                <a:cs typeface="Malgun Gothic"/>
              </a:defRPr>
            </a:pPr>
            <a:r>
              <a:rPr sz="2925" b="1">
                <a:solidFill>
                  <a:srgbClr val="652A3A"/>
                </a:solidFill>
                <a:latin typeface="Malgun Gothic"/>
                <a:ea typeface="Malgun Gothic"/>
                <a:cs typeface="Malgun Gothic"/>
              </a:rPr>
              <a:t>프로젝트 목적</a:t>
            </a:r>
          </a:p>
        </p:txBody>
      </p:sp>
      <p:sp>
        <p:nvSpPr>
          <p:cNvPr id="4" name="02">
            <a:extLst xmlns:a="http://schemas.openxmlformats.org/drawingml/2006/main">
              <a:ext uri="{FF2B5EF4-FFF2-40B4-BE49-F238E27FC236}">
                <a16:creationId xmlns:a16="http://schemas.microsoft.com/office/drawing/2014/main" id="{344F116F-3BE5-4FD7-B07B-16884ACBB6F4}"/>
              </a:ext>
            </a:extLst>
          </p:cNvPr>
          <p:cNvSpPr>
            <a:spLocks xmlns:a="http://schemas.openxmlformats.org/drawingml/2006/main" noGrp="1"/>
          </p:cNvSpPr>
          <p:nvPr/>
        </p:nvSpPr>
        <p:spPr>
          <a:xfrm xmlns:a="http://schemas.openxmlformats.org/drawingml/2006/main">
            <a:off x="609600" y="6200775"/>
            <a:ext cx="914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797468"/>
                </a:solidFill>
                <a:latin typeface="Malgun Gothic"/>
                <a:ea typeface="Malgun Gothic"/>
                <a:cs typeface="Malgun Gothic"/>
              </a:defRPr>
            </a:pPr>
            <a:r>
              <a:rPr sz="1575" b="0">
                <a:solidFill>
                  <a:srgbClr val="797468"/>
                </a:solidFill>
                <a:latin typeface="Malgun Gothic"/>
                <a:ea typeface="Malgun Gothic"/>
                <a:cs typeface="Malgun Gothic"/>
              </a:rPr>
              <a:t>02</a:t>
            </a:r>
          </a:p>
        </p:txBody>
      </p:sp>
      <p:sp>
        <p:nvSpPr>
          <p:cNvPr id="5" name="데이터 분석을 통해&#10;논리적 사고력 향상">
            <a:extLst xmlns:a="http://schemas.openxmlformats.org/drawingml/2006/main">
              <a:ext uri="{FF2B5EF4-FFF2-40B4-BE49-F238E27FC236}">
                <a16:creationId xmlns:a16="http://schemas.microsoft.com/office/drawing/2014/main" id="{08778FAE-780E-4029-A2BF-9030A693CF9A}"/>
              </a:ext>
            </a:extLst>
          </p:cNvPr>
          <p:cNvSpPr>
            <a:spLocks xmlns:a="http://schemas.openxmlformats.org/drawingml/2006/main" noGrp="1"/>
          </p:cNvSpPr>
          <p:nvPr/>
        </p:nvSpPr>
        <p:spPr>
          <a:xfrm xmlns:a="http://schemas.openxmlformats.org/drawingml/2006/main">
            <a:off x="2381250" y="2019300"/>
            <a:ext cx="914400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75" b="1">
                <a:solidFill>
                  <a:srgbClr val="302E29"/>
                </a:solidFill>
                <a:latin typeface="Malgun Gothic"/>
                <a:ea typeface="Malgun Gothic"/>
                <a:cs typeface="Malgun Gothic"/>
              </a:defRPr>
            </a:pPr>
            <a:r>
              <a:rPr sz="3675" b="1">
                <a:solidFill>
                  <a:srgbClr val="302E29"/>
                </a:solidFill>
                <a:latin typeface="Malgun Gothic"/>
                <a:ea typeface="Malgun Gothic"/>
                <a:cs typeface="Malgun Gothic"/>
              </a:rPr>
              <a:t>데이터 분석을 통해</a:t>
            </a:r>
          </a:p>
          <a:p xmlns:a="http://schemas.openxmlformats.org/drawingml/2006/main">
            <a:pPr>
              <a:defRPr sz="3675" b="1">
                <a:solidFill>
                  <a:srgbClr val="302E29"/>
                </a:solidFill>
                <a:latin typeface="Malgun Gothic"/>
                <a:ea typeface="Malgun Gothic"/>
                <a:cs typeface="Malgun Gothic"/>
              </a:defRPr>
            </a:pPr>
            <a:r>
              <a:rPr sz="3675" b="1">
                <a:solidFill>
                  <a:srgbClr val="302E29"/>
                </a:solidFill>
                <a:latin typeface="Malgun Gothic"/>
                <a:ea typeface="Malgun Gothic"/>
                <a:cs typeface="Malgun Gothic"/>
              </a:rPr>
              <a:t>논리적 사고력 향상</a:t>
            </a:r>
          </a:p>
        </p:txBody>
      </p:sp>
      <p:sp>
        <p:nvSpPr>
          <p:cNvPr id="6" name="학습자">
            <a:extLst xmlns:a="http://schemas.openxmlformats.org/drawingml/2006/main">
              <a:ext uri="{FF2B5EF4-FFF2-40B4-BE49-F238E27FC236}">
                <a16:creationId xmlns:a16="http://schemas.microsoft.com/office/drawing/2014/main" id="{ECE225F9-6D04-4B9A-AD61-34D1597A701F}"/>
              </a:ext>
            </a:extLst>
          </p:cNvPr>
          <p:cNvSpPr>
            <a:spLocks xmlns:a="http://schemas.openxmlformats.org/drawingml/2006/main" noGrp="1"/>
          </p:cNvSpPr>
          <p:nvPr/>
        </p:nvSpPr>
        <p:spPr>
          <a:xfrm xmlns:a="http://schemas.openxmlformats.org/drawingml/2006/main">
            <a:off x="2381250" y="4429125"/>
            <a:ext cx="4362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586240"/>
                </a:solidFill>
                <a:latin typeface="Malgun Gothic"/>
                <a:ea typeface="Malgun Gothic"/>
                <a:cs typeface="Malgun Gothic"/>
              </a:defRPr>
            </a:pPr>
            <a:r>
              <a:rPr sz="2175" b="1">
                <a:solidFill>
                  <a:srgbClr val="586240"/>
                </a:solidFill>
                <a:latin typeface="Malgun Gothic"/>
                <a:ea typeface="Malgun Gothic"/>
                <a:cs typeface="Malgun Gothic"/>
              </a:rPr>
              <a:t>학습자</a:t>
            </a:r>
          </a:p>
        </p:txBody>
      </p:sp>
      <p:sp>
        <p:nvSpPr>
          <p:cNvPr id="7" name="지표와 조건을 정하고&#10;데이터로 자신의 판단을 설명">
            <a:extLst xmlns:a="http://schemas.openxmlformats.org/drawingml/2006/main">
              <a:ext uri="{FF2B5EF4-FFF2-40B4-BE49-F238E27FC236}">
                <a16:creationId xmlns:a16="http://schemas.microsoft.com/office/drawing/2014/main" id="{773B55EE-7DFF-464E-B717-B6D23E998AAD}"/>
              </a:ext>
            </a:extLst>
          </p:cNvPr>
          <p:cNvSpPr>
            <a:spLocks xmlns:a="http://schemas.openxmlformats.org/drawingml/2006/main" noGrp="1"/>
          </p:cNvSpPr>
          <p:nvPr/>
        </p:nvSpPr>
        <p:spPr>
          <a:xfrm xmlns:a="http://schemas.openxmlformats.org/drawingml/2006/main">
            <a:off x="2381250" y="4895850"/>
            <a:ext cx="43624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02E29"/>
                </a:solidFill>
                <a:latin typeface="Malgun Gothic"/>
                <a:ea typeface="Malgun Gothic"/>
                <a:cs typeface="Malgun Gothic"/>
              </a:defRPr>
            </a:pPr>
            <a:r>
              <a:rPr sz="2025" b="0">
                <a:solidFill>
                  <a:srgbClr val="302E29"/>
                </a:solidFill>
                <a:latin typeface="Malgun Gothic"/>
                <a:ea typeface="Malgun Gothic"/>
                <a:cs typeface="Malgun Gothic"/>
              </a:rPr>
              <a:t>지표와 조건을 정하고</a:t>
            </a:r>
          </a:p>
          <a:p xmlns:a="http://schemas.openxmlformats.org/drawingml/2006/main">
            <a:pPr>
              <a:defRPr sz="2025" b="0">
                <a:solidFill>
                  <a:srgbClr val="302E29"/>
                </a:solidFill>
                <a:latin typeface="Malgun Gothic"/>
                <a:ea typeface="Malgun Gothic"/>
                <a:cs typeface="Malgun Gothic"/>
              </a:defRPr>
            </a:pPr>
            <a:r>
              <a:rPr sz="2025" b="0">
                <a:solidFill>
                  <a:srgbClr val="302E29"/>
                </a:solidFill>
                <a:latin typeface="Malgun Gothic"/>
                <a:ea typeface="Malgun Gothic"/>
                <a:cs typeface="Malgun Gothic"/>
              </a:rPr>
              <a:t>데이터로 자신의 판단을 설명</a:t>
            </a:r>
          </a:p>
        </p:txBody>
      </p:sp>
      <p:sp>
        <p:nvSpPr>
          <p:cNvPr id="8" name="에이전트">
            <a:extLst xmlns:a="http://schemas.openxmlformats.org/drawingml/2006/main">
              <a:ext uri="{FF2B5EF4-FFF2-40B4-BE49-F238E27FC236}">
                <a16:creationId xmlns:a16="http://schemas.microsoft.com/office/drawing/2014/main" id="{9E61B094-D47B-47D0-94C7-378D8DA14526}"/>
              </a:ext>
            </a:extLst>
          </p:cNvPr>
          <p:cNvSpPr>
            <a:spLocks xmlns:a="http://schemas.openxmlformats.org/drawingml/2006/main" noGrp="1"/>
          </p:cNvSpPr>
          <p:nvPr/>
        </p:nvSpPr>
        <p:spPr>
          <a:xfrm xmlns:a="http://schemas.openxmlformats.org/drawingml/2006/main">
            <a:off x="7162800" y="4429125"/>
            <a:ext cx="4362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586240"/>
                </a:solidFill>
                <a:latin typeface="Malgun Gothic"/>
                <a:ea typeface="Malgun Gothic"/>
                <a:cs typeface="Malgun Gothic"/>
              </a:defRPr>
            </a:pPr>
            <a:r>
              <a:rPr sz="2175" b="1">
                <a:solidFill>
                  <a:srgbClr val="586240"/>
                </a:solidFill>
                <a:latin typeface="Malgun Gothic"/>
                <a:ea typeface="Malgun Gothic"/>
                <a:cs typeface="Malgun Gothic"/>
              </a:rPr>
              <a:t>에이전트</a:t>
            </a:r>
          </a:p>
        </p:txBody>
      </p:sp>
      <p:sp>
        <p:nvSpPr>
          <p:cNvPr id="9" name="문제와 연습 데이터를 준비하고&#10;분석 과정에 질문과 피드백 제공">
            <a:extLst xmlns:a="http://schemas.openxmlformats.org/drawingml/2006/main">
              <a:ext uri="{FF2B5EF4-FFF2-40B4-BE49-F238E27FC236}">
                <a16:creationId xmlns:a16="http://schemas.microsoft.com/office/drawing/2014/main" id="{EEC427C1-160D-4990-B751-C8BFC9323BC8}"/>
              </a:ext>
            </a:extLst>
          </p:cNvPr>
          <p:cNvSpPr>
            <a:spLocks xmlns:a="http://schemas.openxmlformats.org/drawingml/2006/main" noGrp="1"/>
          </p:cNvSpPr>
          <p:nvPr/>
        </p:nvSpPr>
        <p:spPr>
          <a:xfrm xmlns:a="http://schemas.openxmlformats.org/drawingml/2006/main">
            <a:off x="7162800" y="4895850"/>
            <a:ext cx="43624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02E29"/>
                </a:solidFill>
                <a:latin typeface="Malgun Gothic"/>
                <a:ea typeface="Malgun Gothic"/>
                <a:cs typeface="Malgun Gothic"/>
              </a:defRPr>
            </a:pPr>
            <a:r>
              <a:rPr sz="2025" b="0">
                <a:solidFill>
                  <a:srgbClr val="302E29"/>
                </a:solidFill>
                <a:latin typeface="Malgun Gothic"/>
                <a:ea typeface="Malgun Gothic"/>
                <a:cs typeface="Malgun Gothic"/>
              </a:rPr>
              <a:t>문제와 연습 데이터를 준비하고</a:t>
            </a:r>
          </a:p>
          <a:p xmlns:a="http://schemas.openxmlformats.org/drawingml/2006/main">
            <a:pPr>
              <a:defRPr sz="2025" b="0">
                <a:solidFill>
                  <a:srgbClr val="302E29"/>
                </a:solidFill>
                <a:latin typeface="Malgun Gothic"/>
                <a:ea typeface="Malgun Gothic"/>
                <a:cs typeface="Malgun Gothic"/>
              </a:defRPr>
            </a:pPr>
            <a:r>
              <a:rPr sz="2025" b="0">
                <a:solidFill>
                  <a:srgbClr val="302E29"/>
                </a:solidFill>
                <a:latin typeface="Malgun Gothic"/>
                <a:ea typeface="Malgun Gothic"/>
                <a:cs typeface="Malgun Gothic"/>
              </a:rPr>
              <a:t>분석 과정에 질문과 피드백 제공</a:t>
            </a:r>
          </a:p>
        </p:txBody>
      </p:sp>
    </p:spTree>
    <p:extLst>
      <p:ext uri="{BB962C8B-B14F-4D97-AF65-F5344CB8AC3E}">
        <p14:creationId xmlns:p14="http://schemas.microsoft.com/office/powerpoint/2010/main" val="189179850"/>
      </p:ext>
    </p:extLst>
  </p:cSld>
</p:sld>
</file>

<file path=ppt/slides/slide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6F2E9"/>
        </a:solidFill>
      </p:bgPr>
    </p:bg>
    <p:spTree>
      <p:nvGrpSpPr>
        <p:cNvPr id="1" name=""/>
        <p:cNvGrpSpPr/>
        <p:nvPr/>
      </p:nvGrpSpPr>
      <p:grpSpPr>
        <a:xfrm/>
      </p:grpSpPr>
      <p:sp>
        <p:nvSpPr>
          <p:cNvPr id="13" name="03">
            <a:extLst xmlns:a="http://schemas.openxmlformats.org/drawingml/2006/main">
              <a:ext uri="{FF2B5EF4-FFF2-40B4-BE49-F238E27FC236}">
                <a16:creationId xmlns:a16="http://schemas.microsoft.com/office/drawing/2014/main" id="{03A39BA0-6357-49CF-8DF3-171BD306E97A}"/>
              </a:ext>
            </a:extLst>
          </p:cNvPr>
          <p:cNvSpPr>
            <a:spLocks xmlns:a="http://schemas.openxmlformats.org/drawingml/2006/main" noGrp="1"/>
          </p:cNvSpPr>
          <p:nvPr/>
        </p:nvSpPr>
        <p:spPr>
          <a:xfrm xmlns:a="http://schemas.openxmlformats.org/drawingml/2006/main">
            <a:off x="609600" y="457200"/>
            <a:ext cx="1238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350" b="1">
                <a:solidFill>
                  <a:srgbClr val="652A3A"/>
                </a:solidFill>
                <a:latin typeface="Malgun Gothic"/>
                <a:ea typeface="Malgun Gothic"/>
                <a:cs typeface="Malgun Gothic"/>
              </a:defRPr>
            </a:pPr>
            <a:r>
              <a:rPr sz="4350" b="1">
                <a:solidFill>
                  <a:srgbClr val="652A3A"/>
                </a:solidFill>
                <a:latin typeface="Malgun Gothic"/>
                <a:ea typeface="Malgun Gothic"/>
                <a:cs typeface="Malgun Gothic"/>
              </a:rPr>
              <a:t>02</a:t>
            </a:r>
          </a:p>
        </p:txBody>
      </p:sp>
      <p:sp>
        <p:nvSpPr>
          <p:cNvPr id="2" name="기능">
            <a:extLst>
              <a:ext uri="{FF2B5EF4-FFF2-40B4-BE49-F238E27FC236}">
                <ns2:creationId id="{41FB081A-611C-422F-A311-F6A22E9C4926}"/>
              </a:ext>
            </a:extLst>
          </p:cNvPr>
          <p:cNvSpPr>
            <a:spLocks noGrp="1"/>
          </p:cNvSpPr>
          <p:nvPr/>
        </p:nvSpPr>
        <p:spPr>
          <a:xfrm>
            <a:off x="609600" y="1314450"/>
            <a:ext cx="1276350" cy="866775"/>
          </a:xfrm>
          <a:prstGeom prst="rect">
            <a:avLst/>
          </a:prstGeom>
          <a:noFill/>
          <a:ln w="0">
            <a:noFill/>
          </a:ln>
        </p:spPr>
        <p:txBody>
          <a:bodyPr wrap="square" lIns="0" tIns="0" rIns="0" bIns="0" anchor="t">
            <a:noAutofit/>
          </a:bodyPr>
          <a:lstStyle/>
          <a:p>
            <a:pPr>
              <a:defRPr sz="1725" b="0">
                <a:solidFill>
                  <a:srgbClr val="797468"/>
                </a:solidFill>
                <a:latin typeface="Malgun Gothic"/>
                <a:ea typeface="Malgun Gothic"/>
                <a:cs typeface="Malgun Gothic"/>
              </a:defRPr>
            </a:pPr>
            <a:r>
              <a:rPr sz="1725" b="0">
                <a:solidFill>
                  <a:srgbClr val="797468"/>
                </a:solidFill>
                <a:latin typeface="Malgun Gothic"/>
                <a:ea typeface="Malgun Gothic"/>
                <a:cs typeface="Malgun Gothic"/>
              </a:rPr>
              <a:t>기능</a:t>
            </a:r>
          </a:p>
        </p:txBody>
      </p:sp>
      <p:sp>
        <p:nvSpPr>
          <p:cNvPr id="3" name="웹 기능">
            <a:extLst>
              <a:ext uri="{FF2B5EF4-FFF2-40B4-BE49-F238E27FC236}">
                <ns2:creationId id="{0F5C7ED3-289C-4D16-BD7D-54784EB9769B}"/>
              </a:ext>
            </a:extLst>
          </p:cNvPr>
          <p:cNvSpPr>
            <a:spLocks noGrp="1"/>
          </p:cNvSpPr>
          <p:nvPr/>
        </p:nvSpPr>
        <p:spPr>
          <a:xfrm>
            <a:off x="2381250" y="542925"/>
            <a:ext cx="9105900" cy="1104900"/>
          </a:xfrm>
          <a:prstGeom prst="rect">
            <a:avLst/>
          </a:prstGeom>
          <a:noFill/>
          <a:ln w="0">
            <a:noFill/>
          </a:ln>
        </p:spPr>
        <p:txBody>
          <a:bodyPr wrap="square" lIns="0" tIns="0" rIns="0" bIns="0" anchor="t">
            <a:noAutofit/>
          </a:bodyPr>
          <a:lstStyle/>
          <a:p>
            <a:pPr>
              <a:defRPr sz="2925" b="1">
                <a:solidFill>
                  <a:srgbClr val="652A3A"/>
                </a:solidFill>
                <a:latin typeface="Malgun Gothic"/>
                <a:ea typeface="Malgun Gothic"/>
                <a:cs typeface="Malgun Gothic"/>
              </a:defRPr>
            </a:pPr>
            <a:r>
              <a:rPr sz="2925" b="1">
                <a:solidFill>
                  <a:srgbClr val="652A3A"/>
                </a:solidFill>
                <a:latin typeface="Malgun Gothic"/>
                <a:ea typeface="Malgun Gothic"/>
                <a:cs typeface="Malgun Gothic"/>
              </a:rPr>
              <a:t>웹 기능</a:t>
            </a:r>
          </a:p>
        </p:txBody>
      </p:sp>
      <p:sp>
        <p:nvSpPr>
          <p:cNvPr id="4" name="05">
            <a:extLst xmlns:a="http://schemas.openxmlformats.org/drawingml/2006/main">
              <a:ext uri="{FF2B5EF4-FFF2-40B4-BE49-F238E27FC236}">
                <a16:creationId xmlns:a16="http://schemas.microsoft.com/office/drawing/2014/main" id="{4764438C-6066-42A4-AB86-CFA894B71CB2}"/>
              </a:ext>
            </a:extLst>
          </p:cNvPr>
          <p:cNvSpPr>
            <a:spLocks xmlns:a="http://schemas.openxmlformats.org/drawingml/2006/main" noGrp="1"/>
          </p:cNvSpPr>
          <p:nvPr/>
        </p:nvSpPr>
        <p:spPr>
          <a:xfrm xmlns:a="http://schemas.openxmlformats.org/drawingml/2006/main">
            <a:off x="609600" y="6200775"/>
            <a:ext cx="914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75" b="0">
                <a:solidFill>
                  <a:srgbClr val="797468"/>
                </a:solidFill>
                <a:latin typeface="Malgun Gothic"/>
                <a:ea typeface="Malgun Gothic"/>
                <a:cs typeface="Malgun Gothic"/>
              </a:defRPr>
            </a:pPr>
            <a:r>
              <a:rPr sz="1575" b="0">
                <a:solidFill>
                  <a:srgbClr val="797468"/>
                </a:solidFill>
                <a:latin typeface="Malgun Gothic"/>
                <a:ea typeface="Malgun Gothic"/>
                <a:cs typeface="Malgun Gothic"/>
              </a:rPr>
              <a:t>03</a:t>
            </a:r>
          </a:p>
        </p:txBody>
      </p:sp>
      <p:sp>
        <p:nvSpPr>
          <p:cNvPr id="5" name="분석 작업을 한 화면에서">
            <a:extLst>
              <a:ext uri="{FF2B5EF4-FFF2-40B4-BE49-F238E27FC236}">
                <ns2:creationId id="{7126DB05-59F9-4D40-9656-834305E9116B}"/>
              </a:ext>
            </a:extLst>
          </p:cNvPr>
          <p:cNvSpPr>
            <a:spLocks noGrp="1"/>
          </p:cNvSpPr>
          <p:nvPr/>
        </p:nvSpPr>
        <p:spPr>
          <a:xfrm>
            <a:off x="2381250" y="1571625"/>
            <a:ext cx="9163050" cy="533400"/>
          </a:xfrm>
          <a:prstGeom prst="rect">
            <a:avLst/>
          </a:prstGeom>
          <a:noFill/>
          <a:ln w="0">
            <a:noFill/>
          </a:ln>
        </p:spPr>
        <p:txBody>
          <a:bodyPr wrap="square" lIns="0" tIns="0" rIns="0" bIns="0" anchor="t">
            <a:noAutofit/>
          </a:bodyPr>
          <a:lstStyle/>
          <a:p>
            <a:pPr>
              <a:defRPr sz="2175" b="1">
                <a:solidFill>
                  <a:srgbClr val="302E29"/>
                </a:solidFill>
                <a:latin typeface="Malgun Gothic"/>
                <a:ea typeface="Malgun Gothic"/>
                <a:cs typeface="Malgun Gothic"/>
              </a:defRPr>
            </a:pPr>
            <a:r>
              <a:rPr sz="2175" b="1">
                <a:solidFill>
                  <a:srgbClr val="302E29"/>
                </a:solidFill>
                <a:latin typeface="Malgun Gothic"/>
                <a:ea typeface="Malgun Gothic"/>
                <a:cs typeface="Malgun Gothic"/>
              </a:rPr>
              <a:t>분석 작업을 한 화면에서</a:t>
            </a:r>
          </a:p>
        </p:txBody>
      </p:sp>
      <p:sp>
        <p:nvSpPr>
          <p:cNvPr id="6" name="문제 준비">
            <a:extLst>
              <a:ext uri="{FF2B5EF4-FFF2-40B4-BE49-F238E27FC236}">
                <ns2:creationId id="{654EE3EA-BFA2-4139-8F66-5B28F93BC7D3}"/>
              </a:ext>
            </a:extLst>
          </p:cNvPr>
          <p:cNvSpPr>
            <a:spLocks noGrp="1"/>
          </p:cNvSpPr>
          <p:nvPr/>
        </p:nvSpPr>
        <p:spPr>
          <a:xfrm>
            <a:off x="2381250" y="2676525"/>
            <a:ext cx="2781300" cy="409575"/>
          </a:xfrm>
          <a:prstGeom prst="rect">
            <a:avLst/>
          </a:prstGeom>
          <a:noFill/>
          <a:ln w="0">
            <a:noFill/>
          </a:ln>
        </p:spPr>
        <p:txBody>
          <a:bodyPr wrap="square" lIns="0" tIns="0" rIns="0" bIns="0" anchor="t">
            <a:noAutofit/>
          </a:bodyPr>
          <a:lstStyle/>
          <a:p>
            <a:pPr>
              <a:defRPr sz="2175" b="1">
                <a:solidFill>
                  <a:srgbClr val="586240"/>
                </a:solidFill>
                <a:latin typeface="Malgun Gothic"/>
                <a:ea typeface="Malgun Gothic"/>
                <a:cs typeface="Malgun Gothic"/>
              </a:defRPr>
            </a:pPr>
            <a:r>
              <a:rPr sz="2175" b="1">
                <a:solidFill>
                  <a:srgbClr val="586240"/>
                </a:solidFill>
                <a:latin typeface="Malgun Gothic"/>
                <a:ea typeface="Malgun Gothic"/>
                <a:cs typeface="Malgun Gothic"/>
              </a:rPr>
              <a:t>문제 준비</a:t>
            </a:r>
          </a:p>
        </p:txBody>
      </p:sp>
      <p:sp>
        <p:nvSpPr>
          <p:cNvPr id="7" name="주제와 난이도로 훈련 요청">
            <a:extLst>
              <a:ext uri="{FF2B5EF4-FFF2-40B4-BE49-F238E27FC236}">
                <ns2:creationId id="{AFA9C005-E114-4BCB-83E7-0CC905107729}"/>
              </a:ext>
            </a:extLst>
          </p:cNvPr>
          <p:cNvSpPr>
            <a:spLocks noGrp="1"/>
          </p:cNvSpPr>
          <p:nvPr/>
        </p:nvSpPr>
        <p:spPr>
          <a:xfrm>
            <a:off x="2381250" y="3143250"/>
            <a:ext cx="2781300" cy="1047750"/>
          </a:xfrm>
          <a:prstGeom prst="rect">
            <a:avLst/>
          </a:prstGeom>
          <a:noFill/>
          <a:ln w="0">
            <a:noFill/>
          </a:ln>
        </p:spPr>
        <p:txBody>
          <a:bodyPr wrap="square" lIns="0" tIns="0" rIns="0" bIns="0" anchor="t">
            <a:noAutofit/>
          </a:bodyPr>
          <a:lstStyle/>
          <a:p>
            <a:pPr>
              <a:defRPr sz="1725" b="0">
                <a:solidFill>
                  <a:srgbClr val="302E29"/>
                </a:solidFill>
                <a:latin typeface="Malgun Gothic"/>
                <a:ea typeface="Malgun Gothic"/>
                <a:cs typeface="Malgun Gothic"/>
              </a:defRPr>
            </a:pPr>
            <a:r>
              <a:rPr sz="1725" b="0">
                <a:solidFill>
                  <a:srgbClr val="302E29"/>
                </a:solidFill>
                <a:latin typeface="Malgun Gothic"/>
                <a:ea typeface="Malgun Gothic"/>
                <a:cs typeface="Malgun Gothic"/>
              </a:rPr>
              <a:t>주제와 난이도로 훈련 요청</a:t>
            </a:r>
          </a:p>
        </p:txBody>
      </p:sp>
      <p:sp>
        <p:nvSpPr>
          <p:cNvPr id="8" name="직접 분석">
            <a:extLst>
              <a:ext uri="{FF2B5EF4-FFF2-40B4-BE49-F238E27FC236}">
                <ns2:creationId id="{47B47102-8414-4E4D-9CE5-7347DB9A4997}"/>
              </a:ext>
            </a:extLst>
          </p:cNvPr>
          <p:cNvSpPr>
            <a:spLocks noGrp="1"/>
          </p:cNvSpPr>
          <p:nvPr/>
        </p:nvSpPr>
        <p:spPr>
          <a:xfrm>
            <a:off x="2381250" y="3857625"/>
            <a:ext cx="2781300" cy="409575"/>
          </a:xfrm>
          <a:prstGeom prst="rect">
            <a:avLst/>
          </a:prstGeom>
          <a:noFill/>
          <a:ln w="0">
            <a:noFill/>
          </a:ln>
        </p:spPr>
        <p:txBody>
          <a:bodyPr wrap="square" lIns="0" tIns="0" rIns="0" bIns="0" anchor="t">
            <a:noAutofit/>
          </a:bodyPr>
          <a:lstStyle/>
          <a:p>
            <a:pPr>
              <a:defRPr sz="2175" b="1">
                <a:solidFill>
                  <a:srgbClr val="586240"/>
                </a:solidFill>
                <a:latin typeface="Malgun Gothic"/>
                <a:ea typeface="Malgun Gothic"/>
                <a:cs typeface="Malgun Gothic"/>
              </a:defRPr>
            </a:pPr>
            <a:r>
              <a:rPr sz="2175" b="1">
                <a:solidFill>
                  <a:srgbClr val="586240"/>
                </a:solidFill>
                <a:latin typeface="Malgun Gothic"/>
                <a:ea typeface="Malgun Gothic"/>
                <a:cs typeface="Malgun Gothic"/>
              </a:rPr>
              <a:t>직접 분석</a:t>
            </a:r>
          </a:p>
        </p:txBody>
      </p:sp>
      <p:sp>
        <p:nvSpPr>
          <p:cNvPr id="9" name="데이터 사전과 SQL 작업대">
            <a:extLst>
              <a:ext uri="{FF2B5EF4-FFF2-40B4-BE49-F238E27FC236}">
                <ns2:creationId id="{3EF00A00-047E-434B-BC0C-86EFD1069A6C}"/>
              </a:ext>
            </a:extLst>
          </p:cNvPr>
          <p:cNvSpPr>
            <a:spLocks noGrp="1"/>
          </p:cNvSpPr>
          <p:nvPr/>
        </p:nvSpPr>
        <p:spPr>
          <a:xfrm>
            <a:off x="2381250" y="4324350"/>
            <a:ext cx="2781300" cy="1047750"/>
          </a:xfrm>
          <a:prstGeom prst="rect">
            <a:avLst/>
          </a:prstGeom>
          <a:noFill/>
          <a:ln w="0">
            <a:noFill/>
          </a:ln>
        </p:spPr>
        <p:txBody>
          <a:bodyPr wrap="square" lIns="0" tIns="0" rIns="0" bIns="0" anchor="t">
            <a:noAutofit/>
          </a:bodyPr>
          <a:lstStyle/>
          <a:p>
            <a:pPr>
              <a:defRPr sz="1725" b="0">
                <a:solidFill>
                  <a:srgbClr val="302E29"/>
                </a:solidFill>
                <a:latin typeface="Malgun Gothic"/>
                <a:ea typeface="Malgun Gothic"/>
                <a:cs typeface="Malgun Gothic"/>
              </a:defRPr>
            </a:pPr>
            <a:r>
              <a:rPr sz="1725" b="0">
                <a:solidFill>
                  <a:srgbClr val="302E29"/>
                </a:solidFill>
                <a:latin typeface="Malgun Gothic"/>
                <a:ea typeface="Malgun Gothic"/>
                <a:cs typeface="Malgun Gothic"/>
              </a:rPr>
              <a:t>데이터 사전과 SQL 작업대</a:t>
            </a:r>
          </a:p>
        </p:txBody>
      </p:sp>
      <p:sp>
        <p:nvSpPr>
          <p:cNvPr id="10" name="보고와 피드백">
            <a:extLst>
              <a:ext uri="{FF2B5EF4-FFF2-40B4-BE49-F238E27FC236}">
                <ns2:creationId id="{2994547A-C51C-489C-8F22-7DBD7F61260B}"/>
              </a:ext>
            </a:extLst>
          </p:cNvPr>
          <p:cNvSpPr>
            <a:spLocks noGrp="1"/>
          </p:cNvSpPr>
          <p:nvPr/>
        </p:nvSpPr>
        <p:spPr>
          <a:xfrm>
            <a:off x="2381250" y="5038725"/>
            <a:ext cx="2781300" cy="409575"/>
          </a:xfrm>
          <a:prstGeom prst="rect">
            <a:avLst/>
          </a:prstGeom>
          <a:noFill/>
          <a:ln w="0">
            <a:noFill/>
          </a:ln>
        </p:spPr>
        <p:txBody>
          <a:bodyPr wrap="square" lIns="0" tIns="0" rIns="0" bIns="0" anchor="t">
            <a:noAutofit/>
          </a:bodyPr>
          <a:lstStyle/>
          <a:p>
            <a:pPr>
              <a:defRPr sz="2175" b="1">
                <a:solidFill>
                  <a:srgbClr val="586240"/>
                </a:solidFill>
                <a:latin typeface="Malgun Gothic"/>
                <a:ea typeface="Malgun Gothic"/>
                <a:cs typeface="Malgun Gothic"/>
              </a:defRPr>
            </a:pPr>
            <a:r>
              <a:rPr sz="2175" b="1">
                <a:solidFill>
                  <a:srgbClr val="586240"/>
                </a:solidFill>
                <a:latin typeface="Malgun Gothic"/>
                <a:ea typeface="Malgun Gothic"/>
                <a:cs typeface="Malgun Gothic"/>
              </a:rPr>
              <a:t>보고와 피드백</a:t>
            </a:r>
          </a:p>
        </p:txBody>
      </p:sp>
      <p:sp>
        <p:nvSpPr>
          <p:cNvPr id="11" name="근거를 연결해 제출·수정&#10;저장한 훈련 이어 하기">
            <a:extLst>
              <a:ext uri="{FF2B5EF4-FFF2-40B4-BE49-F238E27FC236}">
                <ns2:creationId id="{00A4C6BB-4AA3-4DC4-83CC-92595C1CE0CA}"/>
              </a:ext>
            </a:extLst>
          </p:cNvPr>
          <p:cNvSpPr>
            <a:spLocks noGrp="1"/>
          </p:cNvSpPr>
          <p:nvPr/>
        </p:nvSpPr>
        <p:spPr>
          <a:xfrm>
            <a:off x="2381250" y="5505450"/>
            <a:ext cx="2781300" cy="1047750"/>
          </a:xfrm>
          <a:prstGeom prst="rect">
            <a:avLst/>
          </a:prstGeom>
          <a:noFill/>
          <a:ln w="0">
            <a:noFill/>
          </a:ln>
        </p:spPr>
        <p:txBody>
          <a:bodyPr wrap="square" lIns="0" tIns="0" rIns="0" bIns="0" anchor="t">
            <a:noAutofit/>
          </a:bodyPr>
          <a:lstStyle/>
          <a:p>
            <a:pPr>
              <a:defRPr sz="1725" b="0">
                <a:solidFill>
                  <a:srgbClr val="302E29"/>
                </a:solidFill>
                <a:latin typeface="Malgun Gothic"/>
                <a:ea typeface="Malgun Gothic"/>
                <a:cs typeface="Malgun Gothic"/>
              </a:defRPr>
            </a:pPr>
            <a:r>
              <a:rPr sz="1725" b="0">
                <a:solidFill>
                  <a:srgbClr val="302E29"/>
                </a:solidFill>
                <a:latin typeface="Malgun Gothic"/>
                <a:ea typeface="Malgun Gothic"/>
                <a:cs typeface="Malgun Gothic"/>
              </a:rPr>
              <a:t>근거를 연결해 제출·수정</a:t>
            </a:r>
          </a:p>
          <a:p>
            <a:pPr>
              <a:defRPr sz="1725" b="0">
                <a:solidFill>
                  <a:srgbClr val="302E29"/>
                </a:solidFill>
                <a:latin typeface="Malgun Gothic"/>
                <a:ea typeface="Malgun Gothic"/>
                <a:cs typeface="Malgun Gothic"/>
              </a:defRPr>
            </a:pPr>
            <a:r>
              <a:rPr sz="1725" b="0">
                <a:solidFill>
                  <a:srgbClr val="302E29"/>
                </a:solidFill>
                <a:latin typeface="Malgun Gothic"/>
                <a:ea typeface="Malgun Gothic"/>
                <a:cs typeface="Malgun Gothic"/>
              </a:rPr>
              <a:t>저장한 훈련 이어 하기</a:t>
            </a:r>
          </a:p>
        </p:txBody>
      </p:sp>
      <p:pic>
        <p:nvPicPr>
          <p:cNvPr id="24" name=""/>
          <p:cNvPicPr>
            <a:picLocks noChangeAspect="1"/>
          </p:cNvPicPr>
          <p:nvPr/>
        </p:nvPicPr>
        <p:blipFill>
          <a:blip r:embed="R9481e5dd011d4374"/>
          <a:srcRect l="4000" t="19000" r="4000" b="31000"/>
          <a:stretch/>
        </p:blipFill>
        <p:spPr>
          <a:xfrm>
            <a:off x="5657850" y="2295525"/>
            <a:ext cx="5848350" cy="4171950"/>
          </a:xfrm>
          <a:prstGeom prst="rect">
            <a:avLst/>
          </a:prstGeom>
        </p:spPr>
      </p:pic>
    </p:spTree>
    <p:extLst>
      <p:ext uri="{BB962C8B-B14F-4D97-AF65-F5344CB8AC3E}">
        <ns4:creationId val="1069325947"/>
      </p:ext>
    </p:extLst>
  </p:cSld>
</p:sld>
</file>

<file path=ppt/slides/slide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6F2E9"/>
        </a:solidFill>
      </p:bgPr>
    </p:bg>
    <p:spTree>
      <p:nvGrpSpPr>
        <p:cNvPr id="1" name=""/>
        <p:cNvGrpSpPr/>
        <p:nvPr/>
      </p:nvGrpSpPr>
      <p:grpSpPr>
        <a:xfrm/>
      </p:grpSpPr>
      <p:sp>
        <p:nvSpPr>
          <p:cNvPr id="13" name="03">
            <a:extLst xmlns:a="http://schemas.openxmlformats.org/drawingml/2006/main">
              <a:ext uri="{FF2B5EF4-FFF2-40B4-BE49-F238E27FC236}">
                <a16:creationId xmlns:a16="http://schemas.microsoft.com/office/drawing/2014/main" id="{529D5ED1-F9F5-4BA4-9B3A-F89A9C5CC639}"/>
              </a:ext>
            </a:extLst>
          </p:cNvPr>
          <p:cNvSpPr>
            <a:spLocks xmlns:a="http://schemas.openxmlformats.org/drawingml/2006/main" noGrp="1"/>
          </p:cNvSpPr>
          <p:nvPr/>
        </p:nvSpPr>
        <p:spPr>
          <a:xfrm xmlns:a="http://schemas.openxmlformats.org/drawingml/2006/main">
            <a:off x="609600" y="457200"/>
            <a:ext cx="1238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350" b="1">
                <a:solidFill>
                  <a:srgbClr val="652A3A"/>
                </a:solidFill>
                <a:latin typeface="Malgun Gothic"/>
                <a:ea typeface="Malgun Gothic"/>
                <a:cs typeface="Malgun Gothic"/>
              </a:defRPr>
            </a:pPr>
            <a:r>
              <a:rPr sz="4350" b="1">
                <a:solidFill>
                  <a:srgbClr val="652A3A"/>
                </a:solidFill>
                <a:latin typeface="Malgun Gothic"/>
                <a:ea typeface="Malgun Gothic"/>
                <a:cs typeface="Malgun Gothic"/>
              </a:rPr>
              <a:t>02</a:t>
            </a:r>
          </a:p>
        </p:txBody>
      </p:sp>
      <p:sp>
        <p:nvSpPr>
          <p:cNvPr id="2" name="기능">
            <a:extLst>
              <a:ext uri="{FF2B5EF4-FFF2-40B4-BE49-F238E27FC236}">
                <ns2:creationId id="{2A0D556F-4E25-448A-A022-9F7F88A9F522}"/>
              </a:ext>
            </a:extLst>
          </p:cNvPr>
          <p:cNvSpPr>
            <a:spLocks noGrp="1"/>
          </p:cNvSpPr>
          <p:nvPr/>
        </p:nvSpPr>
        <p:spPr>
          <a:xfrm>
            <a:off x="609600" y="1314450"/>
            <a:ext cx="1276350" cy="866775"/>
          </a:xfrm>
          <a:prstGeom prst="rect">
            <a:avLst/>
          </a:prstGeom>
          <a:noFill/>
          <a:ln w="0">
            <a:noFill/>
          </a:ln>
        </p:spPr>
        <p:txBody>
          <a:bodyPr wrap="square" lIns="0" tIns="0" rIns="0" bIns="0" anchor="t">
            <a:noAutofit/>
          </a:bodyPr>
          <a:lstStyle/>
          <a:p>
            <a:pPr>
              <a:defRPr sz="1725" b="0">
                <a:solidFill>
                  <a:srgbClr val="797468"/>
                </a:solidFill>
                <a:latin typeface="Malgun Gothic"/>
                <a:ea typeface="Malgun Gothic"/>
                <a:cs typeface="Malgun Gothic"/>
              </a:defRPr>
            </a:pPr>
            <a:r>
              <a:rPr sz="1725" b="0">
                <a:solidFill>
                  <a:srgbClr val="797468"/>
                </a:solidFill>
                <a:latin typeface="Malgun Gothic"/>
                <a:ea typeface="Malgun Gothic"/>
                <a:cs typeface="Malgun Gothic"/>
              </a:rPr>
              <a:t>기능</a:t>
            </a:r>
          </a:p>
        </p:txBody>
      </p:sp>
      <p:sp>
        <p:nvSpPr>
          <p:cNvPr id="3" name="Discord 기능 ① 훈련 시작">
            <a:extLst>
              <a:ext uri="{FF2B5EF4-FFF2-40B4-BE49-F238E27FC236}">
                <ns2:creationId id="{974BD253-3E1D-46FC-83CA-A89FB81ACCD6}"/>
              </a:ext>
            </a:extLst>
          </p:cNvPr>
          <p:cNvSpPr>
            <a:spLocks noGrp="1"/>
          </p:cNvSpPr>
          <p:nvPr/>
        </p:nvSpPr>
        <p:spPr>
          <a:xfrm>
            <a:off x="2381250" y="542925"/>
            <a:ext cx="9105900" cy="1104900"/>
          </a:xfrm>
          <a:prstGeom prst="rect">
            <a:avLst/>
          </a:prstGeom>
          <a:noFill/>
          <a:ln w="0">
            <a:noFill/>
          </a:ln>
        </p:spPr>
        <p:txBody>
          <a:bodyPr wrap="square" lIns="0" tIns="0" rIns="0" bIns="0" anchor="t">
            <a:noAutofit/>
          </a:bodyPr>
          <a:lstStyle/>
          <a:p>
            <a:pPr>
              <a:defRPr sz="2925" b="1">
                <a:solidFill>
                  <a:srgbClr val="652A3A"/>
                </a:solidFill>
                <a:latin typeface="Malgun Gothic"/>
                <a:ea typeface="Malgun Gothic"/>
                <a:cs typeface="Malgun Gothic"/>
              </a:defRPr>
            </a:pPr>
            <a:r>
              <a:rPr sz="2925" b="1">
                <a:solidFill>
                  <a:srgbClr val="652A3A"/>
                </a:solidFill>
                <a:latin typeface="Malgun Gothic"/>
                <a:ea typeface="Malgun Gothic"/>
                <a:cs typeface="Malgun Gothic"/>
              </a:rPr>
              <a:t>Discord 기능 ① 훈련 시작</a:t>
            </a:r>
          </a:p>
        </p:txBody>
      </p:sp>
      <p:sp>
        <p:nvSpPr>
          <p:cNvPr id="4" name="06">
            <a:extLst xmlns:a="http://schemas.openxmlformats.org/drawingml/2006/main">
              <a:ext uri="{FF2B5EF4-FFF2-40B4-BE49-F238E27FC236}">
                <a16:creationId xmlns:a16="http://schemas.microsoft.com/office/drawing/2014/main" id="{4D61C4CE-2185-49F3-9FC3-9C32B6BF5EC2}"/>
              </a:ext>
            </a:extLst>
          </p:cNvPr>
          <p:cNvSpPr>
            <a:spLocks xmlns:a="http://schemas.openxmlformats.org/drawingml/2006/main" noGrp="1"/>
          </p:cNvSpPr>
          <p:nvPr/>
        </p:nvSpPr>
        <p:spPr>
          <a:xfrm xmlns:a="http://schemas.openxmlformats.org/drawingml/2006/main">
            <a:off x="609600" y="6200775"/>
            <a:ext cx="914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75" b="0">
                <a:solidFill>
                  <a:srgbClr val="797468"/>
                </a:solidFill>
                <a:latin typeface="Malgun Gothic"/>
                <a:ea typeface="Malgun Gothic"/>
                <a:cs typeface="Malgun Gothic"/>
              </a:defRPr>
            </a:pPr>
            <a:r>
              <a:rPr sz="1575" b="0">
                <a:solidFill>
                  <a:srgbClr val="797468"/>
                </a:solidFill>
                <a:latin typeface="Malgun Gothic"/>
                <a:ea typeface="Malgun Gothic"/>
                <a:cs typeface="Malgun Gothic"/>
              </a:rPr>
              <a:t>04</a:t>
            </a:r>
          </a:p>
        </p:txBody>
      </p:sp>
      <p:sp>
        <p:nvSpPr>
          <p:cNvPr id="5" name="대화 공간에서 시작하는 분석 훈련">
            <a:extLst>
              <a:ext uri="{FF2B5EF4-FFF2-40B4-BE49-F238E27FC236}">
                <ns2:creationId id="{D1C33938-305D-4448-BE7B-6CA50666293C}"/>
              </a:ext>
            </a:extLst>
          </p:cNvPr>
          <p:cNvSpPr>
            <a:spLocks noGrp="1"/>
          </p:cNvSpPr>
          <p:nvPr/>
        </p:nvSpPr>
        <p:spPr>
          <a:xfrm>
            <a:off x="2381250" y="1571625"/>
            <a:ext cx="9163050" cy="533400"/>
          </a:xfrm>
          <a:prstGeom prst="rect">
            <a:avLst/>
          </a:prstGeom>
          <a:noFill/>
          <a:ln w="0">
            <a:noFill/>
          </a:ln>
        </p:spPr>
        <p:txBody>
          <a:bodyPr wrap="square" lIns="0" tIns="0" rIns="0" bIns="0" anchor="t">
            <a:noAutofit/>
          </a:bodyPr>
          <a:lstStyle/>
          <a:p>
            <a:pPr>
              <a:defRPr sz="2175" b="1">
                <a:solidFill>
                  <a:srgbClr val="302E29"/>
                </a:solidFill>
                <a:latin typeface="Malgun Gothic"/>
                <a:ea typeface="Malgun Gothic"/>
                <a:cs typeface="Malgun Gothic"/>
              </a:defRPr>
            </a:pPr>
            <a:r>
              <a:rPr sz="2175" b="1">
                <a:solidFill>
                  <a:srgbClr val="302E29"/>
                </a:solidFill>
                <a:latin typeface="Malgun Gothic"/>
                <a:ea typeface="Malgun Gothic"/>
                <a:cs typeface="Malgun Gothic"/>
              </a:rPr>
              <a:t>대화 공간에서 시작하는 분석 훈련</a:t>
            </a:r>
          </a:p>
        </p:txBody>
      </p:sp>
      <p:pic>
        <p:nvPicPr>
          <p:cNvPr id="18" name=""/>
          <p:cNvPicPr>
            <a:picLocks noChangeAspect="1"/>
          </p:cNvPicPr>
          <p:nvPr/>
        </p:nvPicPr>
        <p:blipFill>
          <a:blip r:embed="R32c56635d90b4b4e"/>
          <a:srcRect l="0" t="0" r="0" b="0"/>
          <a:stretch/>
        </p:blipFill>
        <p:spPr>
          <a:xfrm>
            <a:off x="2381250" y="2630816"/>
            <a:ext cx="5618798" cy="3158467"/>
          </a:xfrm>
          <a:prstGeom prst="rect">
            <a:avLst/>
          </a:prstGeom>
        </p:spPr>
      </p:pic>
      <p:sp>
        <p:nvSpPr>
          <p:cNvPr id="7" name="주제와 목표">
            <a:extLst>
              <a:ext uri="{FF2B5EF4-FFF2-40B4-BE49-F238E27FC236}">
                <ns2:creationId id="{1CB97AA7-6B53-4C0D-BD44-9A1CE1597A74}"/>
              </a:ext>
            </a:extLst>
          </p:cNvPr>
          <p:cNvSpPr>
            <a:spLocks noGrp="1"/>
          </p:cNvSpPr>
          <p:nvPr/>
        </p:nvSpPr>
        <p:spPr>
          <a:xfrm>
            <a:off x="8420100" y="2524125"/>
            <a:ext cx="3143250" cy="409575"/>
          </a:xfrm>
          <a:prstGeom prst="rect">
            <a:avLst/>
          </a:prstGeom>
          <a:noFill/>
          <a:ln w="0">
            <a:noFill/>
          </a:ln>
        </p:spPr>
        <p:txBody>
          <a:bodyPr wrap="square" lIns="0" tIns="0" rIns="0" bIns="0" anchor="t">
            <a:noAutofit/>
          </a:bodyPr>
          <a:lstStyle/>
          <a:p>
            <a:pPr>
              <a:defRPr sz="2175" b="1">
                <a:solidFill>
                  <a:srgbClr val="586240"/>
                </a:solidFill>
                <a:latin typeface="Malgun Gothic"/>
                <a:ea typeface="Malgun Gothic"/>
                <a:cs typeface="Malgun Gothic"/>
              </a:defRPr>
            </a:pPr>
            <a:r>
              <a:rPr sz="2175" b="1">
                <a:solidFill>
                  <a:srgbClr val="586240"/>
                </a:solidFill>
                <a:latin typeface="Malgun Gothic"/>
                <a:ea typeface="Malgun Gothic"/>
                <a:cs typeface="Malgun Gothic"/>
              </a:rPr>
              <a:t>주제와 목표</a:t>
            </a:r>
          </a:p>
        </p:txBody>
      </p:sp>
      <p:sp>
        <p:nvSpPr>
          <p:cNvPr id="8" name="원하는 분석 상황과&#10;난이도를 입력">
            <a:extLst>
              <a:ext uri="{FF2B5EF4-FFF2-40B4-BE49-F238E27FC236}">
                <ns2:creationId id="{30D304B4-B02A-4BFB-AF17-27BD47DA8D6E}"/>
              </a:ext>
            </a:extLst>
          </p:cNvPr>
          <p:cNvSpPr>
            <a:spLocks noGrp="1"/>
          </p:cNvSpPr>
          <p:nvPr/>
        </p:nvSpPr>
        <p:spPr>
          <a:xfrm>
            <a:off x="8420100" y="2990850"/>
            <a:ext cx="3143250" cy="1047750"/>
          </a:xfrm>
          <a:prstGeom prst="rect">
            <a:avLst/>
          </a:prstGeom>
          <a:noFill/>
          <a:ln w="0">
            <a:noFill/>
          </a:ln>
        </p:spPr>
        <p:txBody>
          <a:bodyPr wrap="square" lIns="0" tIns="0" rIns="0" bIns="0" anchor="t">
            <a:noAutofit/>
          </a:bodyPr>
          <a:lstStyle/>
          <a:p>
            <a:pPr>
              <a:defRPr sz="1725" b="0">
                <a:solidFill>
                  <a:srgbClr val="302E29"/>
                </a:solidFill>
                <a:latin typeface="Malgun Gothic"/>
                <a:ea typeface="Malgun Gothic"/>
                <a:cs typeface="Malgun Gothic"/>
              </a:defRPr>
            </a:pPr>
            <a:r>
              <a:rPr sz="1725" b="0">
                <a:solidFill>
                  <a:srgbClr val="302E29"/>
                </a:solidFill>
                <a:latin typeface="Malgun Gothic"/>
                <a:ea typeface="Malgun Gothic"/>
                <a:cs typeface="Malgun Gothic"/>
              </a:rPr>
              <a:t>원하는 분석 상황과</a:t>
            </a:r>
          </a:p>
          <a:p>
            <a:pPr>
              <a:defRPr sz="1725" b="0">
                <a:solidFill>
                  <a:srgbClr val="302E29"/>
                </a:solidFill>
                <a:latin typeface="Malgun Gothic"/>
                <a:ea typeface="Malgun Gothic"/>
                <a:cs typeface="Malgun Gothic"/>
              </a:defRPr>
            </a:pPr>
            <a:r>
              <a:rPr sz="1725" b="0">
                <a:solidFill>
                  <a:srgbClr val="302E29"/>
                </a:solidFill>
                <a:latin typeface="Malgun Gothic"/>
                <a:ea typeface="Malgun Gothic"/>
                <a:cs typeface="Malgun Gothic"/>
              </a:rPr>
              <a:t>난이도를 입력</a:t>
            </a:r>
          </a:p>
        </p:txBody>
      </p:sp>
      <p:sp>
        <p:nvSpPr>
          <p:cNvPr id="9" name="연습 방식">
            <a:extLst>
              <a:ext uri="{FF2B5EF4-FFF2-40B4-BE49-F238E27FC236}">
                <ns2:creationId id="{2A403E8B-CC20-4F83-83E4-A0E41042A092}"/>
              </a:ext>
            </a:extLst>
          </p:cNvPr>
          <p:cNvSpPr>
            <a:spLocks noGrp="1"/>
          </p:cNvSpPr>
          <p:nvPr/>
        </p:nvSpPr>
        <p:spPr>
          <a:xfrm>
            <a:off x="8420100" y="3714750"/>
            <a:ext cx="3143250" cy="409575"/>
          </a:xfrm>
          <a:prstGeom prst="rect">
            <a:avLst/>
          </a:prstGeom>
          <a:noFill/>
          <a:ln w="0">
            <a:noFill/>
          </a:ln>
        </p:spPr>
        <p:txBody>
          <a:bodyPr wrap="square" lIns="0" tIns="0" rIns="0" bIns="0" anchor="t">
            <a:noAutofit/>
          </a:bodyPr>
          <a:lstStyle/>
          <a:p>
            <a:pPr>
              <a:defRPr sz="2175" b="1">
                <a:solidFill>
                  <a:srgbClr val="586240"/>
                </a:solidFill>
                <a:latin typeface="Malgun Gothic"/>
                <a:ea typeface="Malgun Gothic"/>
                <a:cs typeface="Malgun Gothic"/>
              </a:defRPr>
            </a:pPr>
            <a:r>
              <a:rPr sz="2175" b="1">
                <a:solidFill>
                  <a:srgbClr val="586240"/>
                </a:solidFill>
                <a:latin typeface="Malgun Gothic"/>
                <a:ea typeface="Malgun Gothic"/>
                <a:cs typeface="Malgun Gothic"/>
              </a:rPr>
              <a:t>연습 방식</a:t>
            </a:r>
          </a:p>
        </p:txBody>
      </p:sp>
      <p:sp>
        <p:nvSpPr>
          <p:cNvPr id="10" name="분석 연습 또는 SQL 연습 선택">
            <a:extLst>
              <a:ext uri="{FF2B5EF4-FFF2-40B4-BE49-F238E27FC236}">
                <ns2:creationId id="{8803BBE6-5879-46FA-922E-BCC61D34DAE9}"/>
              </a:ext>
            </a:extLst>
          </p:cNvPr>
          <p:cNvSpPr>
            <a:spLocks noGrp="1"/>
          </p:cNvSpPr>
          <p:nvPr/>
        </p:nvSpPr>
        <p:spPr>
          <a:xfrm>
            <a:off x="8420100" y="4181475"/>
            <a:ext cx="3143250" cy="1047750"/>
          </a:xfrm>
          <a:prstGeom prst="rect">
            <a:avLst/>
          </a:prstGeom>
          <a:noFill/>
          <a:ln w="0">
            <a:noFill/>
          </a:ln>
        </p:spPr>
        <p:txBody>
          <a:bodyPr wrap="square" lIns="0" tIns="0" rIns="0" bIns="0" anchor="t">
            <a:noAutofit/>
          </a:bodyPr>
          <a:lstStyle/>
          <a:p>
            <a:pPr>
              <a:defRPr sz="1725" b="0">
                <a:solidFill>
                  <a:srgbClr val="302E29"/>
                </a:solidFill>
                <a:latin typeface="Malgun Gothic"/>
                <a:ea typeface="Malgun Gothic"/>
                <a:cs typeface="Malgun Gothic"/>
              </a:defRPr>
            </a:pPr>
            <a:r>
              <a:rPr sz="1725" b="0">
                <a:solidFill>
                  <a:srgbClr val="302E29"/>
                </a:solidFill>
                <a:latin typeface="Malgun Gothic"/>
                <a:ea typeface="Malgun Gothic"/>
                <a:cs typeface="Malgun Gothic"/>
              </a:rPr>
              <a:t>분석 연습 또는 SQL 연습 선택</a:t>
            </a:r>
          </a:p>
        </p:txBody>
      </p:sp>
      <p:sp>
        <p:nvSpPr>
          <p:cNvPr id="11" name="과제별 스레드">
            <a:extLst>
              <a:ext uri="{FF2B5EF4-FFF2-40B4-BE49-F238E27FC236}">
                <ns2:creationId id="{31F286B9-072A-4E49-8391-8A68E46FB6F4}"/>
              </a:ext>
            </a:extLst>
          </p:cNvPr>
          <p:cNvSpPr>
            <a:spLocks noGrp="1"/>
          </p:cNvSpPr>
          <p:nvPr/>
        </p:nvSpPr>
        <p:spPr>
          <a:xfrm>
            <a:off x="8420100" y="4905375"/>
            <a:ext cx="3143250" cy="409575"/>
          </a:xfrm>
          <a:prstGeom prst="rect">
            <a:avLst/>
          </a:prstGeom>
          <a:noFill/>
          <a:ln w="0">
            <a:noFill/>
          </a:ln>
        </p:spPr>
        <p:txBody>
          <a:bodyPr wrap="square" lIns="0" tIns="0" rIns="0" bIns="0" anchor="t">
            <a:noAutofit/>
          </a:bodyPr>
          <a:lstStyle/>
          <a:p>
            <a:pPr>
              <a:defRPr sz="2175" b="1">
                <a:solidFill>
                  <a:srgbClr val="586240"/>
                </a:solidFill>
                <a:latin typeface="Malgun Gothic"/>
                <a:ea typeface="Malgun Gothic"/>
                <a:cs typeface="Malgun Gothic"/>
              </a:defRPr>
            </a:pPr>
            <a:r>
              <a:rPr sz="2175" b="1">
                <a:solidFill>
                  <a:srgbClr val="586240"/>
                </a:solidFill>
                <a:latin typeface="Malgun Gothic"/>
                <a:ea typeface="Malgun Gothic"/>
                <a:cs typeface="Malgun Gothic"/>
              </a:rPr>
              <a:t>과제별 스레드</a:t>
            </a:r>
          </a:p>
        </p:txBody>
      </p:sp>
      <p:sp>
        <p:nvSpPr>
          <p:cNvPr id="12" name="문제와 자료를 스레드에서 확인">
            <a:extLst>
              <a:ext uri="{FF2B5EF4-FFF2-40B4-BE49-F238E27FC236}">
                <ns2:creationId id="{E44D573E-EDFD-4846-91BC-B119CB77F7D4}"/>
              </a:ext>
            </a:extLst>
          </p:cNvPr>
          <p:cNvSpPr>
            <a:spLocks noGrp="1"/>
          </p:cNvSpPr>
          <p:nvPr/>
        </p:nvSpPr>
        <p:spPr>
          <a:xfrm>
            <a:off x="8420100" y="5372100"/>
            <a:ext cx="3143250" cy="1047750"/>
          </a:xfrm>
          <a:prstGeom prst="rect">
            <a:avLst/>
          </a:prstGeom>
          <a:noFill/>
          <a:ln w="0">
            <a:noFill/>
          </a:ln>
        </p:spPr>
        <p:txBody>
          <a:bodyPr wrap="square" lIns="0" tIns="0" rIns="0" bIns="0" anchor="t">
            <a:noAutofit/>
          </a:bodyPr>
          <a:lstStyle/>
          <a:p>
            <a:pPr>
              <a:defRPr sz="1725" b="0">
                <a:solidFill>
                  <a:srgbClr val="302E29"/>
                </a:solidFill>
                <a:latin typeface="Malgun Gothic"/>
                <a:ea typeface="Malgun Gothic"/>
                <a:cs typeface="Malgun Gothic"/>
              </a:defRPr>
            </a:pPr>
            <a:r>
              <a:rPr sz="1725" b="0">
                <a:solidFill>
                  <a:srgbClr val="302E29"/>
                </a:solidFill>
                <a:latin typeface="Malgun Gothic"/>
                <a:ea typeface="Malgun Gothic"/>
                <a:cs typeface="Malgun Gothic"/>
              </a:rPr>
              <a:t>문제와 자료를 스레드에서 확인</a:t>
            </a:r>
          </a:p>
        </p:txBody>
      </p:sp>
    </p:spTree>
    <p:extLst>
      <p:ext uri="{BB962C8B-B14F-4D97-AF65-F5344CB8AC3E}">
        <ns4:creationId val="259423802"/>
      </p:ext>
    </p:extLst>
  </p:cSld>
</p:sld>
</file>

<file path=ppt/slides/slide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6F2E9"/>
        </a:solidFill>
      </p:bgPr>
    </p:bg>
    <p:spTree>
      <p:nvGrpSpPr>
        <p:cNvPr id="1" name=""/>
        <p:cNvGrpSpPr/>
        <p:nvPr/>
      </p:nvGrpSpPr>
      <p:grpSpPr>
        <a:xfrm/>
      </p:grpSpPr>
      <p:sp>
        <p:nvSpPr>
          <p:cNvPr id="13" name="03">
            <a:extLst xmlns:a="http://schemas.openxmlformats.org/drawingml/2006/main">
              <a:ext uri="{FF2B5EF4-FFF2-40B4-BE49-F238E27FC236}">
                <a16:creationId xmlns:a16="http://schemas.microsoft.com/office/drawing/2014/main" id="{81B6BF3C-0EBA-4333-B8BE-17B88CA3645E}"/>
              </a:ext>
            </a:extLst>
          </p:cNvPr>
          <p:cNvSpPr>
            <a:spLocks xmlns:a="http://schemas.openxmlformats.org/drawingml/2006/main" noGrp="1"/>
          </p:cNvSpPr>
          <p:nvPr/>
        </p:nvSpPr>
        <p:spPr>
          <a:xfrm xmlns:a="http://schemas.openxmlformats.org/drawingml/2006/main">
            <a:off x="609600" y="457200"/>
            <a:ext cx="1238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350" b="1">
                <a:solidFill>
                  <a:srgbClr val="652A3A"/>
                </a:solidFill>
                <a:latin typeface="Malgun Gothic"/>
                <a:ea typeface="Malgun Gothic"/>
                <a:cs typeface="Malgun Gothic"/>
              </a:defRPr>
            </a:pPr>
            <a:r>
              <a:rPr sz="4350" b="1">
                <a:solidFill>
                  <a:srgbClr val="652A3A"/>
                </a:solidFill>
                <a:latin typeface="Malgun Gothic"/>
                <a:ea typeface="Malgun Gothic"/>
                <a:cs typeface="Malgun Gothic"/>
              </a:rPr>
              <a:t>02</a:t>
            </a:r>
          </a:p>
        </p:txBody>
      </p:sp>
      <p:sp>
        <p:nvSpPr>
          <p:cNvPr id="2" name="기능">
            <a:extLst>
              <a:ext uri="{FF2B5EF4-FFF2-40B4-BE49-F238E27FC236}">
                <ns2:creationId id="{744259B8-D7B3-421B-9B5D-8CBF062BB018}"/>
              </a:ext>
            </a:extLst>
          </p:cNvPr>
          <p:cNvSpPr>
            <a:spLocks noGrp="1"/>
          </p:cNvSpPr>
          <p:nvPr/>
        </p:nvSpPr>
        <p:spPr>
          <a:xfrm>
            <a:off x="609600" y="1314450"/>
            <a:ext cx="1276350" cy="866775"/>
          </a:xfrm>
          <a:prstGeom prst="rect">
            <a:avLst/>
          </a:prstGeom>
          <a:noFill/>
          <a:ln w="0">
            <a:noFill/>
          </a:ln>
        </p:spPr>
        <p:txBody>
          <a:bodyPr wrap="square" lIns="0" tIns="0" rIns="0" bIns="0" anchor="t">
            <a:noAutofit/>
          </a:bodyPr>
          <a:lstStyle/>
          <a:p>
            <a:pPr>
              <a:defRPr sz="1725" b="0">
                <a:solidFill>
                  <a:srgbClr val="797468"/>
                </a:solidFill>
                <a:latin typeface="Malgun Gothic"/>
                <a:ea typeface="Malgun Gothic"/>
                <a:cs typeface="Malgun Gothic"/>
              </a:defRPr>
            </a:pPr>
            <a:r>
              <a:rPr sz="1725" b="0">
                <a:solidFill>
                  <a:srgbClr val="797468"/>
                </a:solidFill>
                <a:latin typeface="Malgun Gothic"/>
                <a:ea typeface="Malgun Gothic"/>
                <a:cs typeface="Malgun Gothic"/>
              </a:rPr>
              <a:t>기능</a:t>
            </a:r>
          </a:p>
        </p:txBody>
      </p:sp>
      <p:sp>
        <p:nvSpPr>
          <p:cNvPr id="3" name="Discord 기능 ② 데이터 조회와 분석 대화">
            <a:extLst>
              <a:ext uri="{FF2B5EF4-FFF2-40B4-BE49-F238E27FC236}">
                <ns2:creationId id="{8F833D34-F919-4A09-BF56-95EE6799C676}"/>
              </a:ext>
            </a:extLst>
          </p:cNvPr>
          <p:cNvSpPr>
            <a:spLocks noGrp="1"/>
          </p:cNvSpPr>
          <p:nvPr/>
        </p:nvSpPr>
        <p:spPr>
          <a:xfrm>
            <a:off x="2381250" y="542925"/>
            <a:ext cx="9105900" cy="1104900"/>
          </a:xfrm>
          <a:prstGeom prst="rect">
            <a:avLst/>
          </a:prstGeom>
          <a:noFill/>
          <a:ln w="0">
            <a:noFill/>
          </a:ln>
        </p:spPr>
        <p:txBody>
          <a:bodyPr wrap="square" lIns="0" tIns="0" rIns="0" bIns="0" anchor="t">
            <a:noAutofit/>
          </a:bodyPr>
          <a:lstStyle/>
          <a:p>
            <a:pPr>
              <a:defRPr sz="2925" b="1">
                <a:solidFill>
                  <a:srgbClr val="652A3A"/>
                </a:solidFill>
                <a:latin typeface="Malgun Gothic"/>
                <a:ea typeface="Malgun Gothic"/>
                <a:cs typeface="Malgun Gothic"/>
              </a:defRPr>
            </a:pPr>
            <a:r>
              <a:rPr sz="2925" b="1">
                <a:solidFill>
                  <a:srgbClr val="652A3A"/>
                </a:solidFill>
                <a:latin typeface="Malgun Gothic"/>
                <a:ea typeface="Malgun Gothic"/>
                <a:cs typeface="Malgun Gothic"/>
              </a:rPr>
              <a:t>Discord 기능 ② 데이터 조회와 분석 대화</a:t>
            </a:r>
          </a:p>
        </p:txBody>
      </p:sp>
      <p:sp>
        <p:nvSpPr>
          <p:cNvPr id="4" name="07">
            <a:extLst xmlns:a="http://schemas.openxmlformats.org/drawingml/2006/main">
              <a:ext uri="{FF2B5EF4-FFF2-40B4-BE49-F238E27FC236}">
                <a16:creationId xmlns:a16="http://schemas.microsoft.com/office/drawing/2014/main" id="{79387C54-4C03-4AAB-B6F0-87A38B95EBCE}"/>
              </a:ext>
            </a:extLst>
          </p:cNvPr>
          <p:cNvSpPr>
            <a:spLocks xmlns:a="http://schemas.openxmlformats.org/drawingml/2006/main" noGrp="1"/>
          </p:cNvSpPr>
          <p:nvPr/>
        </p:nvSpPr>
        <p:spPr>
          <a:xfrm xmlns:a="http://schemas.openxmlformats.org/drawingml/2006/main">
            <a:off x="609600" y="6200775"/>
            <a:ext cx="914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75" b="0">
                <a:solidFill>
                  <a:srgbClr val="797468"/>
                </a:solidFill>
                <a:latin typeface="Malgun Gothic"/>
                <a:ea typeface="Malgun Gothic"/>
                <a:cs typeface="Malgun Gothic"/>
              </a:defRPr>
            </a:pPr>
            <a:r>
              <a:rPr sz="1575" b="0">
                <a:solidFill>
                  <a:srgbClr val="797468"/>
                </a:solidFill>
                <a:latin typeface="Malgun Gothic"/>
                <a:ea typeface="Malgun Gothic"/>
                <a:cs typeface="Malgun Gothic"/>
              </a:rPr>
              <a:t>05</a:t>
            </a:r>
          </a:p>
        </p:txBody>
      </p:sp>
      <p:sp>
        <p:nvSpPr>
          <p:cNvPr id="5" name="데이터를 확인하며 가설을 구체화">
            <a:extLst>
              <a:ext uri="{FF2B5EF4-FFF2-40B4-BE49-F238E27FC236}">
                <ns2:creationId id="{8F4297D9-E340-44A7-994F-94BC7840C815}"/>
              </a:ext>
            </a:extLst>
          </p:cNvPr>
          <p:cNvSpPr>
            <a:spLocks noGrp="1"/>
          </p:cNvSpPr>
          <p:nvPr/>
        </p:nvSpPr>
        <p:spPr>
          <a:xfrm>
            <a:off x="2381250" y="1571625"/>
            <a:ext cx="9163050" cy="533400"/>
          </a:xfrm>
          <a:prstGeom prst="rect">
            <a:avLst/>
          </a:prstGeom>
          <a:noFill/>
          <a:ln w="0">
            <a:noFill/>
          </a:ln>
        </p:spPr>
        <p:txBody>
          <a:bodyPr wrap="square" lIns="0" tIns="0" rIns="0" bIns="0" anchor="t">
            <a:noAutofit/>
          </a:bodyPr>
          <a:lstStyle/>
          <a:p>
            <a:pPr>
              <a:defRPr sz="2175" b="1">
                <a:solidFill>
                  <a:srgbClr val="302E29"/>
                </a:solidFill>
                <a:latin typeface="Malgun Gothic"/>
                <a:ea typeface="Malgun Gothic"/>
                <a:cs typeface="Malgun Gothic"/>
              </a:defRPr>
            </a:pPr>
            <a:r>
              <a:rPr sz="2175" b="1">
                <a:solidFill>
                  <a:srgbClr val="302E29"/>
                </a:solidFill>
                <a:latin typeface="Malgun Gothic"/>
                <a:ea typeface="Malgun Gothic"/>
                <a:cs typeface="Malgun Gothic"/>
              </a:rPr>
              <a:t>데이터를 확인하며 가설을 구체화</a:t>
            </a:r>
          </a:p>
        </p:txBody>
      </p:sp>
      <p:pic>
        <p:nvPicPr>
          <p:cNvPr id="18" name=""/>
          <p:cNvPicPr>
            <a:picLocks noChangeAspect="1"/>
          </p:cNvPicPr>
          <p:nvPr/>
        </p:nvPicPr>
        <p:blipFill>
          <a:blip r:embed="R0df6e2dabc9e4f31"/>
          <a:srcRect xmlns:a="http://schemas.openxmlformats.org/drawingml/2006/main" l="29000" t="10000" r="2000" b="25000"/>
          <a:stretch/>
        </p:blipFill>
        <p:spPr>
          <a:xfrm xmlns:a="http://schemas.openxmlformats.org/drawingml/2006/main">
            <a:off x="2381250" y="2729865"/>
            <a:ext cx="5618798" cy="2515095"/>
          </a:xfrm>
          <a:prstGeom prst="rect">
            <a:avLst/>
          </a:prstGeom>
        </p:spPr>
      </p:pic>
      <p:sp>
        <p:nvSpPr>
          <p:cNvPr id="7" name="자연어 조회">
            <a:extLst>
              <a:ext uri="{FF2B5EF4-FFF2-40B4-BE49-F238E27FC236}">
                <ns2:creationId id="{A200D603-D27C-4E6C-9F1D-E2FFA3129CDB}"/>
              </a:ext>
            </a:extLst>
          </p:cNvPr>
          <p:cNvSpPr>
            <a:spLocks noGrp="1"/>
          </p:cNvSpPr>
          <p:nvPr/>
        </p:nvSpPr>
        <p:spPr>
          <a:xfrm>
            <a:off x="8420100" y="2524125"/>
            <a:ext cx="3143250" cy="409575"/>
          </a:xfrm>
          <a:prstGeom prst="rect">
            <a:avLst/>
          </a:prstGeom>
          <a:noFill/>
          <a:ln w="0">
            <a:noFill/>
          </a:ln>
        </p:spPr>
        <p:txBody>
          <a:bodyPr wrap="square" lIns="0" tIns="0" rIns="0" bIns="0" anchor="t">
            <a:noAutofit/>
          </a:bodyPr>
          <a:lstStyle/>
          <a:p>
            <a:pPr>
              <a:defRPr sz="2175" b="1">
                <a:solidFill>
                  <a:srgbClr val="586240"/>
                </a:solidFill>
                <a:latin typeface="Malgun Gothic"/>
                <a:ea typeface="Malgun Gothic"/>
                <a:cs typeface="Malgun Gothic"/>
              </a:defRPr>
            </a:pPr>
            <a:r>
              <a:rPr sz="2175" b="1">
                <a:solidFill>
                  <a:srgbClr val="586240"/>
                </a:solidFill>
                <a:latin typeface="Malgun Gothic"/>
                <a:ea typeface="Malgun Gothic"/>
                <a:cs typeface="Malgun Gothic"/>
              </a:rPr>
              <a:t>자연어 조회</a:t>
            </a:r>
          </a:p>
        </p:txBody>
      </p:sp>
      <p:sp>
        <p:nvSpPr>
          <p:cNvPr id="8" name="원하는 조건과 비교를&#10;말로 요청">
            <a:extLst>
              <a:ext uri="{FF2B5EF4-FFF2-40B4-BE49-F238E27FC236}">
                <ns2:creationId id="{360F9816-A896-4A30-B725-B9D0DE25F993}"/>
              </a:ext>
            </a:extLst>
          </p:cNvPr>
          <p:cNvSpPr>
            <a:spLocks noGrp="1"/>
          </p:cNvSpPr>
          <p:nvPr/>
        </p:nvSpPr>
        <p:spPr>
          <a:xfrm>
            <a:off x="8420100" y="2990850"/>
            <a:ext cx="3143250" cy="1047750"/>
          </a:xfrm>
          <a:prstGeom prst="rect">
            <a:avLst/>
          </a:prstGeom>
          <a:noFill/>
          <a:ln w="0">
            <a:noFill/>
          </a:ln>
        </p:spPr>
        <p:txBody>
          <a:bodyPr wrap="square" lIns="0" tIns="0" rIns="0" bIns="0" anchor="t">
            <a:noAutofit/>
          </a:bodyPr>
          <a:lstStyle/>
          <a:p>
            <a:pPr>
              <a:defRPr sz="1725" b="0">
                <a:solidFill>
                  <a:srgbClr val="302E29"/>
                </a:solidFill>
                <a:latin typeface="Malgun Gothic"/>
                <a:ea typeface="Malgun Gothic"/>
                <a:cs typeface="Malgun Gothic"/>
              </a:defRPr>
            </a:pPr>
            <a:r>
              <a:rPr sz="1725" b="0">
                <a:solidFill>
                  <a:srgbClr val="302E29"/>
                </a:solidFill>
                <a:latin typeface="Malgun Gothic"/>
                <a:ea typeface="Malgun Gothic"/>
                <a:cs typeface="Malgun Gothic"/>
              </a:rPr>
              <a:t>원하는 조건과 비교를</a:t>
            </a:r>
          </a:p>
          <a:p>
            <a:pPr>
              <a:defRPr sz="1725" b="0">
                <a:solidFill>
                  <a:srgbClr val="302E29"/>
                </a:solidFill>
                <a:latin typeface="Malgun Gothic"/>
                <a:ea typeface="Malgun Gothic"/>
                <a:cs typeface="Malgun Gothic"/>
              </a:defRPr>
            </a:pPr>
            <a:r>
              <a:rPr sz="1725" b="0">
                <a:solidFill>
                  <a:srgbClr val="302E29"/>
                </a:solidFill>
                <a:latin typeface="Malgun Gothic"/>
                <a:ea typeface="Malgun Gothic"/>
                <a:cs typeface="Malgun Gothic"/>
              </a:rPr>
              <a:t>말로 요청</a:t>
            </a:r>
          </a:p>
        </p:txBody>
      </p:sp>
      <p:sp>
        <p:nvSpPr>
          <p:cNvPr id="9" name="조건과 근거 확인">
            <a:extLst xmlns:a="http://schemas.openxmlformats.org/drawingml/2006/main">
              <a:ext uri="{FF2B5EF4-FFF2-40B4-BE49-F238E27FC236}">
                <a16:creationId xmlns:a16="http://schemas.microsoft.com/office/drawing/2014/main" id="{D56A4A04-7D40-43D9-91AE-F42031F06610}"/>
              </a:ext>
            </a:extLst>
          </p:cNvPr>
          <p:cNvSpPr>
            <a:spLocks xmlns:a="http://schemas.openxmlformats.org/drawingml/2006/main" noGrp="1"/>
          </p:cNvSpPr>
          <p:nvPr/>
        </p:nvSpPr>
        <p:spPr>
          <a:xfrm xmlns:a="http://schemas.openxmlformats.org/drawingml/2006/main">
            <a:off x="8420100" y="3714750"/>
            <a:ext cx="314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1">
                <a:solidFill>
                  <a:srgbClr val="586240"/>
                </a:solidFill>
                <a:latin typeface="Malgun Gothic"/>
                <a:ea typeface="Malgun Gothic"/>
                <a:cs typeface="Malgun Gothic"/>
              </a:defRPr>
            </a:pPr>
            <a:r>
              <a:rPr sz="2175" b="1">
                <a:solidFill>
                  <a:srgbClr val="586240"/>
                </a:solidFill>
                <a:latin typeface="Malgun Gothic"/>
                <a:ea typeface="Malgun Gothic"/>
                <a:cs typeface="Malgun Gothic"/>
              </a:rPr>
              <a:t>보고 후 질문과 답변</a:t>
            </a:r>
          </a:p>
        </p:txBody>
      </p:sp>
      <p:sp>
        <p:nvSpPr>
          <p:cNvPr id="10" name="기간·분모와&#10;실제 조회 결과 확인">
            <a:extLst xmlns:a="http://schemas.openxmlformats.org/drawingml/2006/main">
              <a:ext uri="{FF2B5EF4-FFF2-40B4-BE49-F238E27FC236}">
                <a16:creationId xmlns:a16="http://schemas.microsoft.com/office/drawing/2014/main" id="{7EF7AD02-ADF4-4ED0-BB63-44707893FBDC}"/>
              </a:ext>
            </a:extLst>
          </p:cNvPr>
          <p:cNvSpPr>
            <a:spLocks xmlns:a="http://schemas.openxmlformats.org/drawingml/2006/main" noGrp="1"/>
          </p:cNvSpPr>
          <p:nvPr/>
        </p:nvSpPr>
        <p:spPr>
          <a:xfrm xmlns:a="http://schemas.openxmlformats.org/drawingml/2006/main">
            <a:off x="8420100" y="4181475"/>
            <a:ext cx="314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725" b="0">
                <a:solidFill>
                  <a:srgbClr val="302E29"/>
                </a:solidFill>
                <a:latin typeface="Malgun Gothic"/>
                <a:ea typeface="Malgun Gothic"/>
                <a:cs typeface="Malgun Gothic"/>
              </a:defRPr>
            </a:pPr>
            <a:r>
              <a:rPr sz="1725" b="0">
                <a:solidFill>
                  <a:srgbClr val="302E29"/>
                </a:solidFill>
                <a:latin typeface="Malgun Gothic"/>
                <a:ea typeface="Malgun Gothic"/>
                <a:cs typeface="Malgun Gothic"/>
              </a:rPr>
              <a:t>보고를 제출하면</a:t>
            </a:r>
          </a:p>
          <a:p xmlns:a="http://schemas.openxmlformats.org/drawingml/2006/main">
            <a:pPr>
              <a:buNone/>
              <a:defRPr sz="1725" b="0">
                <a:solidFill>
                  <a:srgbClr val="302E29"/>
                </a:solidFill>
                <a:latin typeface="Malgun Gothic"/>
                <a:ea typeface="Malgun Gothic"/>
                <a:cs typeface="Malgun Gothic"/>
              </a:defRPr>
            </a:pPr>
            <a:r>
              <a:rPr sz="1725" b="0">
                <a:solidFill>
                  <a:srgbClr val="302E29"/>
                </a:solidFill>
                <a:latin typeface="Malgun Gothic"/>
                <a:ea typeface="Malgun Gothic"/>
                <a:cs typeface="Malgun Gothic"/>
              </a:rPr>
              <a:t>대응 우선순위·확인 지표와</a:t>
            </a:r>
          </a:p>
          <a:p xmlns:a="http://schemas.openxmlformats.org/drawingml/2006/main">
            <a:pPr>
              <a:buNone/>
              <a:defRPr sz="1725" b="0">
                <a:solidFill>
                  <a:srgbClr val="302E29"/>
                </a:solidFill>
                <a:latin typeface="Malgun Gothic"/>
                <a:ea typeface="Malgun Gothic"/>
                <a:cs typeface="Malgun Gothic"/>
              </a:defRPr>
            </a:pPr>
            <a:r>
              <a:rPr sz="1725" b="0">
                <a:solidFill>
                  <a:srgbClr val="302E29"/>
                </a:solidFill>
                <a:latin typeface="Malgun Gothic"/>
                <a:ea typeface="Malgun Gothic"/>
                <a:cs typeface="Malgun Gothic"/>
              </a:rPr>
              <a:t>추가 검증 방법에 대한</a:t>
            </a:r>
          </a:p>
          <a:p xmlns:a="http://schemas.openxmlformats.org/drawingml/2006/main">
            <a:pPr>
              <a:buNone/>
              <a:defRPr sz="1725" b="0">
                <a:solidFill>
                  <a:srgbClr val="302E29"/>
                </a:solidFill>
                <a:latin typeface="Malgun Gothic"/>
                <a:ea typeface="Malgun Gothic"/>
                <a:cs typeface="Malgun Gothic"/>
              </a:defRPr>
            </a:pPr>
            <a:r>
              <a:rPr sz="1725" b="0">
                <a:solidFill>
                  <a:srgbClr val="302E29"/>
                </a:solidFill>
                <a:latin typeface="Malgun Gothic"/>
                <a:ea typeface="Malgun Gothic"/>
                <a:cs typeface="Malgun Gothic"/>
              </a:rPr>
              <a:t>질문을 받고 답변</a:t>
            </a:r>
          </a:p>
        </p:txBody>
      </p:sp>
      <p:sp>
        <p:nvSpPr>
          <p:cNvPr id="11" name="분석 도움">
            <a:extLst xmlns:a="http://schemas.openxmlformats.org/drawingml/2006/main">
              <a:ext uri="{FF2B5EF4-FFF2-40B4-BE49-F238E27FC236}">
                <a16:creationId xmlns:a16="http://schemas.microsoft.com/office/drawing/2014/main" id="{0B7CB976-6EB6-4042-9C72-CF3D46843B8A}"/>
              </a:ext>
            </a:extLst>
          </p:cNvPr>
          <p:cNvSpPr>
            <a:spLocks xmlns:a="http://schemas.openxmlformats.org/drawingml/2006/main" noGrp="1"/>
          </p:cNvSpPr>
          <p:nvPr/>
        </p:nvSpPr>
        <p:spPr>
          <a:xfrm xmlns:a="http://schemas.openxmlformats.org/drawingml/2006/main">
            <a:off x="8420100" y="5476875"/>
            <a:ext cx="314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1">
                <a:solidFill>
                  <a:srgbClr val="586240"/>
                </a:solidFill>
                <a:latin typeface="Malgun Gothic"/>
                <a:ea typeface="Malgun Gothic"/>
                <a:cs typeface="Malgun Gothic"/>
              </a:defRPr>
            </a:pPr>
            <a:r>
              <a:rPr sz="2175" b="1">
                <a:solidFill>
                  <a:srgbClr val="586240"/>
                </a:solidFill>
                <a:latin typeface="Malgun Gothic"/>
                <a:ea typeface="Malgun Gothic"/>
                <a:cs typeface="Malgun Gothic"/>
              </a:rPr>
              <a:t>분석 도움</a:t>
            </a:r>
          </a:p>
        </p:txBody>
      </p:sp>
      <p:sp>
        <p:nvSpPr>
          <p:cNvPr id="12" name="방향을 점검하고&#10;필요한 용어 이해">
            <a:extLst xmlns:a="http://schemas.openxmlformats.org/drawingml/2006/main">
              <a:ext uri="{FF2B5EF4-FFF2-40B4-BE49-F238E27FC236}">
                <a16:creationId xmlns:a16="http://schemas.microsoft.com/office/drawing/2014/main" id="{092DF0FF-8EEE-47E2-A869-9E95ABA2A41E}"/>
              </a:ext>
            </a:extLst>
          </p:cNvPr>
          <p:cNvSpPr>
            <a:spLocks xmlns:a="http://schemas.openxmlformats.org/drawingml/2006/main" noGrp="1"/>
          </p:cNvSpPr>
          <p:nvPr/>
        </p:nvSpPr>
        <p:spPr>
          <a:xfrm xmlns:a="http://schemas.openxmlformats.org/drawingml/2006/main">
            <a:off x="8420100" y="594360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725" b="0">
                <a:solidFill>
                  <a:srgbClr val="302E29"/>
                </a:solidFill>
                <a:latin typeface="Malgun Gothic"/>
                <a:ea typeface="Malgun Gothic"/>
                <a:cs typeface="Malgun Gothic"/>
              </a:defRPr>
            </a:pPr>
            <a:r>
              <a:rPr sz="1725" b="0">
                <a:solidFill>
                  <a:srgbClr val="302E29"/>
                </a:solidFill>
                <a:latin typeface="Malgun Gothic"/>
                <a:ea typeface="Malgun Gothic"/>
                <a:cs typeface="Malgun Gothic"/>
              </a:rPr>
              <a:t>방향을 점검하고</a:t>
            </a:r>
          </a:p>
          <a:p xmlns:a="http://schemas.openxmlformats.org/drawingml/2006/main">
            <a:pPr>
              <a:buNone/>
              <a:defRPr sz="1725" b="0">
                <a:solidFill>
                  <a:srgbClr val="302E29"/>
                </a:solidFill>
                <a:latin typeface="Malgun Gothic"/>
                <a:ea typeface="Malgun Gothic"/>
                <a:cs typeface="Malgun Gothic"/>
              </a:defRPr>
            </a:pPr>
            <a:r>
              <a:rPr sz="1725" b="0">
                <a:solidFill>
                  <a:srgbClr val="302E29"/>
                </a:solidFill>
                <a:latin typeface="Malgun Gothic"/>
                <a:ea typeface="Malgun Gothic"/>
                <a:cs typeface="Malgun Gothic"/>
              </a:rPr>
              <a:t>필요한 용어 이해</a:t>
            </a:r>
          </a:p>
        </p:txBody>
      </p:sp>
    </p:spTree>
    <p:extLst>
      <p:ext uri="{BB962C8B-B14F-4D97-AF65-F5344CB8AC3E}">
        <ns4:creationId val="485152856"/>
      </p:ext>
    </p:extLst>
  </p:cSld>
</p:sld>
</file>

<file path=ppt/slides/slide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6F2E9"/>
        </a:solidFill>
      </p:bgPr>
    </p:bg>
    <p:spTree>
      <p:nvGrpSpPr>
        <p:cNvPr id="1" name=""/>
        <p:cNvGrpSpPr/>
        <p:nvPr/>
      </p:nvGrpSpPr>
      <p:grpSpPr>
        <a:xfrm/>
      </p:grpSpPr>
      <p:sp>
        <p:nvSpPr>
          <p:cNvPr id="14" name="03">
            <a:extLst xmlns:a="http://schemas.openxmlformats.org/drawingml/2006/main">
              <a:ext uri="{FF2B5EF4-FFF2-40B4-BE49-F238E27FC236}">
                <a16:creationId xmlns:a16="http://schemas.microsoft.com/office/drawing/2014/main" id="{2526685F-8F42-47F2-9F2F-636C3E40EC33}"/>
              </a:ext>
            </a:extLst>
          </p:cNvPr>
          <p:cNvSpPr>
            <a:spLocks xmlns:a="http://schemas.openxmlformats.org/drawingml/2006/main" noGrp="1"/>
          </p:cNvSpPr>
          <p:nvPr/>
        </p:nvSpPr>
        <p:spPr>
          <a:xfrm xmlns:a="http://schemas.openxmlformats.org/drawingml/2006/main">
            <a:off x="609600" y="457200"/>
            <a:ext cx="1238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350" b="1">
                <a:solidFill>
                  <a:srgbClr val="652A3A"/>
                </a:solidFill>
                <a:latin typeface="Malgun Gothic"/>
                <a:ea typeface="Malgun Gothic"/>
                <a:cs typeface="Malgun Gothic"/>
              </a:defRPr>
            </a:pPr>
            <a:r>
              <a:rPr sz="4350" b="1">
                <a:solidFill>
                  <a:srgbClr val="652A3A"/>
                </a:solidFill>
                <a:latin typeface="Malgun Gothic"/>
                <a:ea typeface="Malgun Gothic"/>
                <a:cs typeface="Malgun Gothic"/>
              </a:rPr>
              <a:t>02</a:t>
            </a:r>
          </a:p>
        </p:txBody>
      </p:sp>
      <p:sp>
        <p:nvSpPr>
          <p:cNvPr id="2" name="기능">
            <a:extLst>
              <a:ext uri="{FF2B5EF4-FFF2-40B4-BE49-F238E27FC236}">
                <ns2:creationId id="{461E09BB-4F13-4993-BB5F-CEE376F12233}"/>
              </a:ext>
            </a:extLst>
          </p:cNvPr>
          <p:cNvSpPr>
            <a:spLocks noGrp="1"/>
          </p:cNvSpPr>
          <p:nvPr/>
        </p:nvSpPr>
        <p:spPr>
          <a:xfrm>
            <a:off x="609600" y="1314450"/>
            <a:ext cx="1276350" cy="866775"/>
          </a:xfrm>
          <a:prstGeom prst="rect">
            <a:avLst/>
          </a:prstGeom>
          <a:noFill/>
          <a:ln w="0">
            <a:noFill/>
          </a:ln>
        </p:spPr>
        <p:txBody>
          <a:bodyPr wrap="square" lIns="0" tIns="0" rIns="0" bIns="0" anchor="t">
            <a:noAutofit/>
          </a:bodyPr>
          <a:lstStyle/>
          <a:p>
            <a:pPr>
              <a:defRPr sz="1725" b="0">
                <a:solidFill>
                  <a:srgbClr val="797468"/>
                </a:solidFill>
                <a:latin typeface="Malgun Gothic"/>
                <a:ea typeface="Malgun Gothic"/>
                <a:cs typeface="Malgun Gothic"/>
              </a:defRPr>
            </a:pPr>
            <a:r>
              <a:rPr sz="1725" b="0">
                <a:solidFill>
                  <a:srgbClr val="797468"/>
                </a:solidFill>
                <a:latin typeface="Malgun Gothic"/>
                <a:ea typeface="Malgun Gothic"/>
                <a:cs typeface="Malgun Gothic"/>
              </a:rPr>
              <a:t>기능</a:t>
            </a:r>
          </a:p>
        </p:txBody>
      </p:sp>
      <p:sp>
        <p:nvSpPr>
          <p:cNvPr id="3" name="Discord 기능 ③ SQL 직접 풀이">
            <a:extLst>
              <a:ext uri="{FF2B5EF4-FFF2-40B4-BE49-F238E27FC236}">
                <ns2:creationId id="{E162F6EE-2A1F-4D60-8424-A9CA7812BF21}"/>
              </a:ext>
            </a:extLst>
          </p:cNvPr>
          <p:cNvSpPr>
            <a:spLocks noGrp="1"/>
          </p:cNvSpPr>
          <p:nvPr/>
        </p:nvSpPr>
        <p:spPr>
          <a:xfrm>
            <a:off x="2381250" y="542925"/>
            <a:ext cx="9105900" cy="1104900"/>
          </a:xfrm>
          <a:prstGeom prst="rect">
            <a:avLst/>
          </a:prstGeom>
          <a:noFill/>
          <a:ln w="0">
            <a:noFill/>
          </a:ln>
        </p:spPr>
        <p:txBody>
          <a:bodyPr wrap="square" lIns="0" tIns="0" rIns="0" bIns="0" anchor="t">
            <a:noAutofit/>
          </a:bodyPr>
          <a:lstStyle/>
          <a:p>
            <a:pPr>
              <a:defRPr sz="2925" b="1">
                <a:solidFill>
                  <a:srgbClr val="652A3A"/>
                </a:solidFill>
                <a:latin typeface="Malgun Gothic"/>
                <a:ea typeface="Malgun Gothic"/>
                <a:cs typeface="Malgun Gothic"/>
              </a:defRPr>
            </a:pPr>
            <a:r>
              <a:rPr sz="2925" b="1">
                <a:solidFill>
                  <a:srgbClr val="652A3A"/>
                </a:solidFill>
                <a:latin typeface="Malgun Gothic"/>
                <a:ea typeface="Malgun Gothic"/>
                <a:cs typeface="Malgun Gothic"/>
              </a:rPr>
              <a:t>Discord 기능 ③ SQL 직접 풀이</a:t>
            </a:r>
          </a:p>
        </p:txBody>
      </p:sp>
      <p:sp>
        <p:nvSpPr>
          <p:cNvPr id="4" name="08">
            <a:extLst xmlns:a="http://schemas.openxmlformats.org/drawingml/2006/main">
              <a:ext uri="{FF2B5EF4-FFF2-40B4-BE49-F238E27FC236}">
                <a16:creationId xmlns:a16="http://schemas.microsoft.com/office/drawing/2014/main" id="{209D0423-27B8-4EB3-85A4-D8D4E74D8ACA}"/>
              </a:ext>
            </a:extLst>
          </p:cNvPr>
          <p:cNvSpPr>
            <a:spLocks xmlns:a="http://schemas.openxmlformats.org/drawingml/2006/main" noGrp="1"/>
          </p:cNvSpPr>
          <p:nvPr/>
        </p:nvSpPr>
        <p:spPr>
          <a:xfrm xmlns:a="http://schemas.openxmlformats.org/drawingml/2006/main">
            <a:off x="609600" y="6200775"/>
            <a:ext cx="914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75" b="0">
                <a:solidFill>
                  <a:srgbClr val="797468"/>
                </a:solidFill>
                <a:latin typeface="Malgun Gothic"/>
                <a:ea typeface="Malgun Gothic"/>
                <a:cs typeface="Malgun Gothic"/>
              </a:defRPr>
            </a:pPr>
            <a:r>
              <a:rPr sz="1575" b="0">
                <a:solidFill>
                  <a:srgbClr val="797468"/>
                </a:solidFill>
                <a:latin typeface="Malgun Gothic"/>
                <a:ea typeface="Malgun Gothic"/>
                <a:cs typeface="Malgun Gothic"/>
              </a:rPr>
              <a:t>06</a:t>
            </a:r>
          </a:p>
        </p:txBody>
      </p:sp>
      <p:sp>
        <p:nvSpPr>
          <p:cNvPr id="5" name="직접 작성하고 결과를 확인하는 SQL 연습">
            <a:extLst>
              <a:ext uri="{FF2B5EF4-FFF2-40B4-BE49-F238E27FC236}">
                <ns2:creationId id="{96032E6E-5C7C-40A5-A00F-C11FBA8782B8}"/>
              </a:ext>
            </a:extLst>
          </p:cNvPr>
          <p:cNvSpPr>
            <a:spLocks noGrp="1"/>
          </p:cNvSpPr>
          <p:nvPr/>
        </p:nvSpPr>
        <p:spPr>
          <a:xfrm>
            <a:off x="2381250" y="1571625"/>
            <a:ext cx="9163050" cy="533400"/>
          </a:xfrm>
          <a:prstGeom prst="rect">
            <a:avLst/>
          </a:prstGeom>
          <a:noFill/>
          <a:ln w="0">
            <a:noFill/>
          </a:ln>
        </p:spPr>
        <p:txBody>
          <a:bodyPr wrap="square" lIns="0" tIns="0" rIns="0" bIns="0" anchor="t">
            <a:noAutofit/>
          </a:bodyPr>
          <a:lstStyle/>
          <a:p>
            <a:pPr>
              <a:defRPr sz="2175" b="1">
                <a:solidFill>
                  <a:srgbClr val="302E29"/>
                </a:solidFill>
                <a:latin typeface="Malgun Gothic"/>
                <a:ea typeface="Malgun Gothic"/>
                <a:cs typeface="Malgun Gothic"/>
              </a:defRPr>
            </a:pPr>
            <a:r>
              <a:rPr sz="2175" b="1">
                <a:solidFill>
                  <a:srgbClr val="302E29"/>
                </a:solidFill>
                <a:latin typeface="Malgun Gothic"/>
                <a:ea typeface="Malgun Gothic"/>
                <a:cs typeface="Malgun Gothic"/>
              </a:rPr>
              <a:t>직접 작성하고 결과를 확인하는 SQL 연습</a:t>
            </a:r>
          </a:p>
        </p:txBody>
      </p:sp>
      <p:pic>
        <p:nvPicPr>
          <p:cNvPr id="19" name=""/>
          <p:cNvPicPr>
            <a:picLocks noChangeAspect="1"/>
          </p:cNvPicPr>
          <p:nvPr/>
        </p:nvPicPr>
        <p:blipFill>
          <a:blip r:embed="R6b7a667431494ebd"/>
          <a:srcRect l="29000" t="10500" r="3000" b="11500"/>
          <a:stretch/>
        </p:blipFill>
        <p:spPr>
          <a:xfrm>
            <a:off x="2381250" y="2737009"/>
            <a:ext cx="5618798" cy="3060382"/>
          </a:xfrm>
          <a:prstGeom prst="rect">
            <a:avLst/>
          </a:prstGeom>
        </p:spPr>
      </p:pic>
      <p:sp>
        <p:nvSpPr>
          <p:cNvPr id="7" name="문제와 데이터">
            <a:extLst>
              <a:ext uri="{FF2B5EF4-FFF2-40B4-BE49-F238E27FC236}">
                <ns2:creationId id="{93DFD583-9229-4976-A276-6DB767178FDA}"/>
              </a:ext>
            </a:extLst>
          </p:cNvPr>
          <p:cNvSpPr>
            <a:spLocks noGrp="1"/>
          </p:cNvSpPr>
          <p:nvPr/>
        </p:nvSpPr>
        <p:spPr>
          <a:xfrm>
            <a:off x="8420100" y="2524125"/>
            <a:ext cx="3143250" cy="409575"/>
          </a:xfrm>
          <a:prstGeom prst="rect">
            <a:avLst/>
          </a:prstGeom>
          <a:noFill/>
          <a:ln w="0">
            <a:noFill/>
          </a:ln>
        </p:spPr>
        <p:txBody>
          <a:bodyPr wrap="square" lIns="0" tIns="0" rIns="0" bIns="0" anchor="t">
            <a:noAutofit/>
          </a:bodyPr>
          <a:lstStyle/>
          <a:p>
            <a:pPr>
              <a:defRPr sz="2175" b="1">
                <a:solidFill>
                  <a:srgbClr val="586240"/>
                </a:solidFill>
                <a:latin typeface="Malgun Gothic"/>
                <a:ea typeface="Malgun Gothic"/>
                <a:cs typeface="Malgun Gothic"/>
              </a:defRPr>
            </a:pPr>
            <a:r>
              <a:rPr sz="2175" b="1">
                <a:solidFill>
                  <a:srgbClr val="586240"/>
                </a:solidFill>
                <a:latin typeface="Malgun Gothic"/>
                <a:ea typeface="Malgun Gothic"/>
                <a:cs typeface="Malgun Gothic"/>
              </a:rPr>
              <a:t>문제와 데이터</a:t>
            </a:r>
          </a:p>
        </p:txBody>
      </p:sp>
      <p:sp>
        <p:nvSpPr>
          <p:cNvPr id="8" name="주제별 문제·데이터 사전 제공">
            <a:extLst>
              <a:ext uri="{FF2B5EF4-FFF2-40B4-BE49-F238E27FC236}">
                <ns2:creationId id="{40FF6551-3F37-4EA1-A648-911E6D93DCE1}"/>
              </a:ext>
            </a:extLst>
          </p:cNvPr>
          <p:cNvSpPr>
            <a:spLocks noGrp="1"/>
          </p:cNvSpPr>
          <p:nvPr/>
        </p:nvSpPr>
        <p:spPr>
          <a:xfrm>
            <a:off x="8420100" y="2990850"/>
            <a:ext cx="3143250" cy="1047750"/>
          </a:xfrm>
          <a:prstGeom prst="rect">
            <a:avLst/>
          </a:prstGeom>
          <a:noFill/>
          <a:ln w="0">
            <a:noFill/>
          </a:ln>
        </p:spPr>
        <p:txBody>
          <a:bodyPr wrap="square" lIns="0" tIns="0" rIns="0" bIns="0" anchor="t">
            <a:noAutofit/>
          </a:bodyPr>
          <a:lstStyle/>
          <a:p>
            <a:pPr>
              <a:defRPr sz="1725" b="0">
                <a:solidFill>
                  <a:srgbClr val="302E29"/>
                </a:solidFill>
                <a:latin typeface="Malgun Gothic"/>
                <a:ea typeface="Malgun Gothic"/>
                <a:cs typeface="Malgun Gothic"/>
              </a:defRPr>
            </a:pPr>
            <a:r>
              <a:rPr sz="1725" b="0">
                <a:solidFill>
                  <a:srgbClr val="302E29"/>
                </a:solidFill>
                <a:latin typeface="Malgun Gothic"/>
                <a:ea typeface="Malgun Gothic"/>
                <a:cs typeface="Malgun Gothic"/>
              </a:rPr>
              <a:t>주제별 문제·데이터 사전 제공</a:t>
            </a:r>
          </a:p>
        </p:txBody>
      </p:sp>
      <p:sp>
        <p:nvSpPr>
          <p:cNvPr id="9" name="작성과 수정">
            <a:extLst>
              <a:ext uri="{FF2B5EF4-FFF2-40B4-BE49-F238E27FC236}">
                <ns2:creationId id="{B46C4261-4641-49D3-886D-CD559442273D}"/>
              </a:ext>
            </a:extLst>
          </p:cNvPr>
          <p:cNvSpPr>
            <a:spLocks noGrp="1"/>
          </p:cNvSpPr>
          <p:nvPr/>
        </p:nvSpPr>
        <p:spPr>
          <a:xfrm>
            <a:off x="8420100" y="3714750"/>
            <a:ext cx="3143250" cy="409575"/>
          </a:xfrm>
          <a:prstGeom prst="rect">
            <a:avLst/>
          </a:prstGeom>
          <a:noFill/>
          <a:ln w="0">
            <a:noFill/>
          </a:ln>
        </p:spPr>
        <p:txBody>
          <a:bodyPr wrap="square" lIns="0" tIns="0" rIns="0" bIns="0" anchor="t">
            <a:noAutofit/>
          </a:bodyPr>
          <a:lstStyle/>
          <a:p>
            <a:pPr>
              <a:defRPr sz="2175" b="1">
                <a:solidFill>
                  <a:srgbClr val="586240"/>
                </a:solidFill>
                <a:latin typeface="Malgun Gothic"/>
                <a:ea typeface="Malgun Gothic"/>
                <a:cs typeface="Malgun Gothic"/>
              </a:defRPr>
            </a:pPr>
            <a:r>
              <a:rPr sz="2175" b="1">
                <a:solidFill>
                  <a:srgbClr val="586240"/>
                </a:solidFill>
                <a:latin typeface="Malgun Gothic"/>
                <a:ea typeface="Malgun Gothic"/>
                <a:cs typeface="Malgun Gothic"/>
              </a:rPr>
              <a:t>작성과 수정</a:t>
            </a:r>
          </a:p>
        </p:txBody>
      </p:sp>
      <p:sp>
        <p:nvSpPr>
          <p:cNvPr id="10" name="직접 SQL을 실행하고 오류 수정">
            <a:extLst>
              <a:ext uri="{FF2B5EF4-FFF2-40B4-BE49-F238E27FC236}">
                <ns2:creationId id="{22537978-C331-4F49-B28E-F468448AB99A}"/>
              </a:ext>
            </a:extLst>
          </p:cNvPr>
          <p:cNvSpPr>
            <a:spLocks noGrp="1"/>
          </p:cNvSpPr>
          <p:nvPr/>
        </p:nvSpPr>
        <p:spPr>
          <a:xfrm>
            <a:off x="8420100" y="4181475"/>
            <a:ext cx="3143250" cy="1047750"/>
          </a:xfrm>
          <a:prstGeom prst="rect">
            <a:avLst/>
          </a:prstGeom>
          <a:noFill/>
          <a:ln w="0">
            <a:noFill/>
          </a:ln>
        </p:spPr>
        <p:txBody>
          <a:bodyPr wrap="square" lIns="0" tIns="0" rIns="0" bIns="0" anchor="t">
            <a:noAutofit/>
          </a:bodyPr>
          <a:lstStyle/>
          <a:p>
            <a:pPr>
              <a:defRPr sz="1725" b="0">
                <a:solidFill>
                  <a:srgbClr val="302E29"/>
                </a:solidFill>
                <a:latin typeface="Malgun Gothic"/>
                <a:ea typeface="Malgun Gothic"/>
                <a:cs typeface="Malgun Gothic"/>
              </a:defRPr>
            </a:pPr>
            <a:r>
              <a:rPr sz="1725" b="0">
                <a:solidFill>
                  <a:srgbClr val="302E29"/>
                </a:solidFill>
                <a:latin typeface="Malgun Gothic"/>
                <a:ea typeface="Malgun Gothic"/>
                <a:cs typeface="Malgun Gothic"/>
              </a:rPr>
              <a:t>직접 SQL을 실행하고 오류 수정</a:t>
            </a:r>
          </a:p>
        </p:txBody>
      </p:sp>
      <p:sp>
        <p:nvSpPr>
          <p:cNvPr id="11" name="풀이 평가">
            <a:extLst>
              <a:ext uri="{FF2B5EF4-FFF2-40B4-BE49-F238E27FC236}">
                <ns2:creationId id="{30DE9F05-C47F-48EE-B613-25BBFFF09BEA}"/>
              </a:ext>
            </a:extLst>
          </p:cNvPr>
          <p:cNvSpPr>
            <a:spLocks noGrp="1"/>
          </p:cNvSpPr>
          <p:nvPr/>
        </p:nvSpPr>
        <p:spPr>
          <a:xfrm>
            <a:off x="8420100" y="4905375"/>
            <a:ext cx="3143250" cy="409575"/>
          </a:xfrm>
          <a:prstGeom prst="rect">
            <a:avLst/>
          </a:prstGeom>
          <a:noFill/>
          <a:ln w="0">
            <a:noFill/>
          </a:ln>
        </p:spPr>
        <p:txBody>
          <a:bodyPr wrap="square" lIns="0" tIns="0" rIns="0" bIns="0" anchor="t">
            <a:noAutofit/>
          </a:bodyPr>
          <a:lstStyle/>
          <a:p>
            <a:pPr>
              <a:defRPr sz="2175" b="1">
                <a:solidFill>
                  <a:srgbClr val="586240"/>
                </a:solidFill>
                <a:latin typeface="Malgun Gothic"/>
                <a:ea typeface="Malgun Gothic"/>
                <a:cs typeface="Malgun Gothic"/>
              </a:defRPr>
            </a:pPr>
            <a:r>
              <a:rPr sz="2175" b="1">
                <a:solidFill>
                  <a:srgbClr val="586240"/>
                </a:solidFill>
                <a:latin typeface="Malgun Gothic"/>
                <a:ea typeface="Malgun Gothic"/>
                <a:cs typeface="Malgun Gothic"/>
              </a:rPr>
              <a:t>풀이 평가</a:t>
            </a:r>
          </a:p>
        </p:txBody>
      </p:sp>
      <p:sp>
        <p:nvSpPr>
          <p:cNvPr id="12" name="값과 출력 형식,&#10;검산 방법 평가">
            <a:extLst>
              <a:ext uri="{FF2B5EF4-FFF2-40B4-BE49-F238E27FC236}">
                <ns2:creationId id="{10FC7246-72C1-4C58-B1D1-6F64BFD36638}"/>
              </a:ext>
            </a:extLst>
          </p:cNvPr>
          <p:cNvSpPr>
            <a:spLocks noGrp="1"/>
          </p:cNvSpPr>
          <p:nvPr/>
        </p:nvSpPr>
        <p:spPr>
          <a:xfrm>
            <a:off x="8420100" y="5372100"/>
            <a:ext cx="3143250" cy="1047750"/>
          </a:xfrm>
          <a:prstGeom prst="rect">
            <a:avLst/>
          </a:prstGeom>
          <a:noFill/>
          <a:ln w="0">
            <a:noFill/>
          </a:ln>
        </p:spPr>
        <p:txBody>
          <a:bodyPr wrap="square" lIns="0" tIns="0" rIns="0" bIns="0" anchor="t">
            <a:noAutofit/>
          </a:bodyPr>
          <a:lstStyle/>
          <a:p>
            <a:pPr>
              <a:defRPr sz="1725" b="0">
                <a:solidFill>
                  <a:srgbClr val="302E29"/>
                </a:solidFill>
                <a:latin typeface="Malgun Gothic"/>
                <a:ea typeface="Malgun Gothic"/>
                <a:cs typeface="Malgun Gothic"/>
              </a:defRPr>
            </a:pPr>
            <a:r>
              <a:rPr sz="1725" b="0">
                <a:solidFill>
                  <a:srgbClr val="302E29"/>
                </a:solidFill>
                <a:latin typeface="Malgun Gothic"/>
                <a:ea typeface="Malgun Gothic"/>
                <a:cs typeface="Malgun Gothic"/>
              </a:rPr>
              <a:t>값과 출력 형식,</a:t>
            </a:r>
          </a:p>
          <a:p>
            <a:pPr>
              <a:defRPr sz="1725" b="0">
                <a:solidFill>
                  <a:srgbClr val="302E29"/>
                </a:solidFill>
                <a:latin typeface="Malgun Gothic"/>
                <a:ea typeface="Malgun Gothic"/>
                <a:cs typeface="Malgun Gothic"/>
              </a:defRPr>
            </a:pPr>
            <a:r>
              <a:rPr sz="1725" b="0">
                <a:solidFill>
                  <a:srgbClr val="302E29"/>
                </a:solidFill>
                <a:latin typeface="Malgun Gothic"/>
                <a:ea typeface="Malgun Gothic"/>
                <a:cs typeface="Malgun Gothic"/>
              </a:rPr>
              <a:t>검산 방법 평가</a:t>
            </a:r>
          </a:p>
        </p:txBody>
      </p:sp>
      <p:sp>
        <p:nvSpPr>
          <p:cNvPr id="13" name="실제 운영 화면 / 연습용 합성 데이터">
            <a:extLst>
              <a:ext uri="{FF2B5EF4-FFF2-40B4-BE49-F238E27FC236}">
                <ns2:creationId id="{3CE32DAF-190E-4948-90D5-2BBF3BC9E8D9}"/>
              </a:ext>
            </a:extLst>
          </p:cNvPr>
          <p:cNvSpPr>
            <a:spLocks noGrp="1"/>
          </p:cNvSpPr>
          <p:nvPr/>
        </p:nvSpPr>
        <p:spPr>
          <a:xfrm>
            <a:off x="2381250" y="6210300"/>
            <a:ext cx="6610350" cy="333375"/>
          </a:xfrm>
          <a:prstGeom prst="rect">
            <a:avLst/>
          </a:prstGeom>
          <a:noFill/>
          <a:ln w="0">
            <a:noFill/>
          </a:ln>
        </p:spPr>
        <p:txBody>
          <a:bodyPr wrap="square" lIns="0" tIns="0" rIns="0" bIns="0" anchor="t">
            <a:noAutofit/>
          </a:bodyPr>
          <a:lstStyle/>
          <a:p>
            <a:pPr>
              <a:defRPr sz="1500" b="0">
                <a:solidFill>
                  <a:srgbClr val="797468"/>
                </a:solidFill>
                <a:latin typeface="Malgun Gothic"/>
                <a:ea typeface="Malgun Gothic"/>
                <a:cs typeface="Malgun Gothic"/>
              </a:defRPr>
            </a:pPr>
            <a:r>
              <a:rPr sz="1500" b="0">
                <a:solidFill>
                  <a:srgbClr val="797468"/>
                </a:solidFill>
                <a:latin typeface="Malgun Gothic"/>
                <a:ea typeface="Malgun Gothic"/>
                <a:cs typeface="Malgun Gothic"/>
              </a:rPr>
              <a:t>실제 운영 화면 / 연습용 합성 데이터</a:t>
            </a:r>
          </a:p>
        </p:txBody>
      </p:sp>
    </p:spTree>
    <p:extLst>
      <p:ext uri="{BB962C8B-B14F-4D97-AF65-F5344CB8AC3E}">
        <ns4:creationId val="704526196"/>
      </p:ext>
    </p:extLst>
  </p:cSld>
</p:sld>
</file>

<file path=ppt/slides/slide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6F2E9"/>
        </a:solidFill>
      </p:bgPr>
    </p:bg>
    <p:spTree>
      <p:nvGrpSpPr>
        <p:cNvPr id="1" name=""/>
        <p:cNvGrpSpPr/>
        <p:nvPr/>
      </p:nvGrpSpPr>
      <p:grpSpPr>
        <a:xfrm/>
      </p:grpSpPr>
      <p:sp>
        <p:nvSpPr>
          <p:cNvPr id="13" name="03">
            <a:extLst xmlns:a="http://schemas.openxmlformats.org/drawingml/2006/main">
              <a:ext uri="{FF2B5EF4-FFF2-40B4-BE49-F238E27FC236}">
                <a16:creationId xmlns:a16="http://schemas.microsoft.com/office/drawing/2014/main" id="{4E81F3E3-CE57-4CFB-8241-A75EE85EB2AB}"/>
              </a:ext>
            </a:extLst>
          </p:cNvPr>
          <p:cNvSpPr>
            <a:spLocks xmlns:a="http://schemas.openxmlformats.org/drawingml/2006/main" noGrp="1"/>
          </p:cNvSpPr>
          <p:nvPr/>
        </p:nvSpPr>
        <p:spPr>
          <a:xfrm xmlns:a="http://schemas.openxmlformats.org/drawingml/2006/main">
            <a:off x="609600" y="457200"/>
            <a:ext cx="1238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350" b="1">
                <a:solidFill>
                  <a:srgbClr val="652A3A"/>
                </a:solidFill>
                <a:latin typeface="Malgun Gothic"/>
                <a:ea typeface="Malgun Gothic"/>
                <a:cs typeface="Malgun Gothic"/>
              </a:defRPr>
            </a:pPr>
            <a:r>
              <a:rPr sz="4350" b="1">
                <a:solidFill>
                  <a:srgbClr val="652A3A"/>
                </a:solidFill>
                <a:latin typeface="Malgun Gothic"/>
                <a:ea typeface="Malgun Gothic"/>
                <a:cs typeface="Malgun Gothic"/>
              </a:rPr>
              <a:t>02</a:t>
            </a:r>
          </a:p>
        </p:txBody>
      </p:sp>
      <p:sp>
        <p:nvSpPr>
          <p:cNvPr id="2" name="기능">
            <a:extLst>
              <a:ext uri="{FF2B5EF4-FFF2-40B4-BE49-F238E27FC236}">
                <ns2:creationId id="{4E073C06-3002-4DC1-86C4-30803A90FAFB}"/>
              </a:ext>
            </a:extLst>
          </p:cNvPr>
          <p:cNvSpPr>
            <a:spLocks noGrp="1"/>
          </p:cNvSpPr>
          <p:nvPr/>
        </p:nvSpPr>
        <p:spPr>
          <a:xfrm>
            <a:off x="609600" y="1314450"/>
            <a:ext cx="1276350" cy="866775"/>
          </a:xfrm>
          <a:prstGeom prst="rect">
            <a:avLst/>
          </a:prstGeom>
          <a:noFill/>
          <a:ln w="0">
            <a:noFill/>
          </a:ln>
        </p:spPr>
        <p:txBody>
          <a:bodyPr wrap="square" lIns="0" tIns="0" rIns="0" bIns="0" anchor="t">
            <a:noAutofit/>
          </a:bodyPr>
          <a:lstStyle/>
          <a:p>
            <a:pPr>
              <a:defRPr sz="1725" b="0">
                <a:solidFill>
                  <a:srgbClr val="797468"/>
                </a:solidFill>
                <a:latin typeface="Malgun Gothic"/>
                <a:ea typeface="Malgun Gothic"/>
                <a:cs typeface="Malgun Gothic"/>
              </a:defRPr>
            </a:pPr>
            <a:r>
              <a:rPr sz="1725" b="0">
                <a:solidFill>
                  <a:srgbClr val="797468"/>
                </a:solidFill>
                <a:latin typeface="Malgun Gothic"/>
                <a:ea typeface="Malgun Gothic"/>
                <a:cs typeface="Malgun Gothic"/>
              </a:rPr>
              <a:t>기능</a:t>
            </a:r>
          </a:p>
        </p:txBody>
      </p:sp>
      <p:sp>
        <p:nvSpPr>
          <p:cNvPr id="3" name="Discord 기능 ④ 보고·평가·결과 기록">
            <a:extLst>
              <a:ext uri="{FF2B5EF4-FFF2-40B4-BE49-F238E27FC236}">
                <ns2:creationId id="{7541D80E-DBC1-46F5-9E85-3D5F0D9B0044}"/>
              </a:ext>
            </a:extLst>
          </p:cNvPr>
          <p:cNvSpPr>
            <a:spLocks noGrp="1"/>
          </p:cNvSpPr>
          <p:nvPr/>
        </p:nvSpPr>
        <p:spPr>
          <a:xfrm>
            <a:off x="2381250" y="542925"/>
            <a:ext cx="9105900" cy="1104900"/>
          </a:xfrm>
          <a:prstGeom prst="rect">
            <a:avLst/>
          </a:prstGeom>
          <a:noFill/>
          <a:ln w="0">
            <a:noFill/>
          </a:ln>
        </p:spPr>
        <p:txBody>
          <a:bodyPr wrap="square" lIns="0" tIns="0" rIns="0" bIns="0" anchor="t">
            <a:noAutofit/>
          </a:bodyPr>
          <a:lstStyle/>
          <a:p>
            <a:pPr>
              <a:defRPr sz="2925" b="1">
                <a:solidFill>
                  <a:srgbClr val="652A3A"/>
                </a:solidFill>
                <a:latin typeface="Malgun Gothic"/>
                <a:ea typeface="Malgun Gothic"/>
                <a:cs typeface="Malgun Gothic"/>
              </a:defRPr>
            </a:pPr>
            <a:r>
              <a:rPr sz="2925" b="1">
                <a:solidFill>
                  <a:srgbClr val="652A3A"/>
                </a:solidFill>
                <a:latin typeface="Malgun Gothic"/>
                <a:ea typeface="Malgun Gothic"/>
                <a:cs typeface="Malgun Gothic"/>
              </a:rPr>
              <a:t>Discord 기능 ④ 보고·평가·결과 기록</a:t>
            </a:r>
          </a:p>
        </p:txBody>
      </p:sp>
      <p:sp>
        <p:nvSpPr>
          <p:cNvPr id="4" name="09">
            <a:extLst xmlns:a="http://schemas.openxmlformats.org/drawingml/2006/main">
              <a:ext uri="{FF2B5EF4-FFF2-40B4-BE49-F238E27FC236}">
                <a16:creationId xmlns:a16="http://schemas.microsoft.com/office/drawing/2014/main" id="{7A0B53DE-C803-4B5E-B2C2-7B6E9C134ED0}"/>
              </a:ext>
            </a:extLst>
          </p:cNvPr>
          <p:cNvSpPr>
            <a:spLocks xmlns:a="http://schemas.openxmlformats.org/drawingml/2006/main" noGrp="1"/>
          </p:cNvSpPr>
          <p:nvPr/>
        </p:nvSpPr>
        <p:spPr>
          <a:xfrm xmlns:a="http://schemas.openxmlformats.org/drawingml/2006/main">
            <a:off x="609600" y="6200775"/>
            <a:ext cx="914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75" b="0">
                <a:solidFill>
                  <a:srgbClr val="797468"/>
                </a:solidFill>
                <a:latin typeface="Malgun Gothic"/>
                <a:ea typeface="Malgun Gothic"/>
                <a:cs typeface="Malgun Gothic"/>
              </a:defRPr>
            </a:pPr>
            <a:r>
              <a:rPr sz="1575" b="0">
                <a:solidFill>
                  <a:srgbClr val="797468"/>
                </a:solidFill>
                <a:latin typeface="Malgun Gothic"/>
                <a:ea typeface="Malgun Gothic"/>
                <a:cs typeface="Malgun Gothic"/>
              </a:rPr>
              <a:t>07</a:t>
            </a:r>
          </a:p>
        </p:txBody>
      </p:sp>
      <p:sp>
        <p:nvSpPr>
          <p:cNvPr id="5" name="분석 결과를 기록하고 다시 검토">
            <a:extLst>
              <a:ext uri="{FF2B5EF4-FFF2-40B4-BE49-F238E27FC236}">
                <ns2:creationId id="{36798F23-569A-4881-928F-2080EBAFE879}"/>
              </a:ext>
            </a:extLst>
          </p:cNvPr>
          <p:cNvSpPr>
            <a:spLocks noGrp="1"/>
          </p:cNvSpPr>
          <p:nvPr/>
        </p:nvSpPr>
        <p:spPr>
          <a:xfrm>
            <a:off x="2381250" y="1571625"/>
            <a:ext cx="9163050" cy="533400"/>
          </a:xfrm>
          <a:prstGeom prst="rect">
            <a:avLst/>
          </a:prstGeom>
          <a:noFill/>
          <a:ln w="0">
            <a:noFill/>
          </a:ln>
        </p:spPr>
        <p:txBody>
          <a:bodyPr wrap="square" lIns="0" tIns="0" rIns="0" bIns="0" anchor="t">
            <a:noAutofit/>
          </a:bodyPr>
          <a:lstStyle/>
          <a:p>
            <a:pPr>
              <a:defRPr sz="2175" b="1">
                <a:solidFill>
                  <a:srgbClr val="302E29"/>
                </a:solidFill>
                <a:latin typeface="Malgun Gothic"/>
                <a:ea typeface="Malgun Gothic"/>
                <a:cs typeface="Malgun Gothic"/>
              </a:defRPr>
            </a:pPr>
            <a:r>
              <a:rPr sz="2175" b="1">
                <a:solidFill>
                  <a:srgbClr val="302E29"/>
                </a:solidFill>
                <a:latin typeface="Malgun Gothic"/>
                <a:ea typeface="Malgun Gothic"/>
                <a:cs typeface="Malgun Gothic"/>
              </a:rPr>
              <a:t>분석 결과를 기록하고 다시 검토</a:t>
            </a:r>
          </a:p>
        </p:txBody>
      </p:sp>
      <p:sp>
        <p:nvSpPr>
          <p:cNvPr id="6" name="보고와 평가">
            <a:extLst>
              <a:ext uri="{FF2B5EF4-FFF2-40B4-BE49-F238E27FC236}">
                <ns2:creationId id="{DBBE5870-B1FA-468A-B37B-05C9BE016D9D}"/>
              </a:ext>
            </a:extLst>
          </p:cNvPr>
          <p:cNvSpPr>
            <a:spLocks noGrp="1"/>
          </p:cNvSpPr>
          <p:nvPr/>
        </p:nvSpPr>
        <p:spPr>
          <a:xfrm>
            <a:off x="2381250" y="2705100"/>
            <a:ext cx="3571875" cy="409575"/>
          </a:xfrm>
          <a:prstGeom prst="rect">
            <a:avLst/>
          </a:prstGeom>
          <a:noFill/>
          <a:ln w="0">
            <a:noFill/>
          </a:ln>
        </p:spPr>
        <p:txBody>
          <a:bodyPr wrap="square" lIns="0" tIns="0" rIns="0" bIns="0" anchor="t">
            <a:noAutofit/>
          </a:bodyPr>
          <a:lstStyle/>
          <a:p>
            <a:pPr>
              <a:defRPr sz="2175" b="1">
                <a:solidFill>
                  <a:srgbClr val="586240"/>
                </a:solidFill>
                <a:latin typeface="Malgun Gothic"/>
                <a:ea typeface="Malgun Gothic"/>
                <a:cs typeface="Malgun Gothic"/>
              </a:defRPr>
            </a:pPr>
            <a:r>
              <a:rPr sz="2175" b="1">
                <a:solidFill>
                  <a:srgbClr val="586240"/>
                </a:solidFill>
                <a:latin typeface="Malgun Gothic"/>
                <a:ea typeface="Malgun Gothic"/>
                <a:cs typeface="Malgun Gothic"/>
              </a:rPr>
              <a:t>보고와 평가</a:t>
            </a:r>
          </a:p>
        </p:txBody>
      </p:sp>
      <p:sp>
        <p:nvSpPr>
          <p:cNvPr id="7" name="결론·근거 작성과 후속 질문 답변">
            <a:extLst>
              <a:ext uri="{FF2B5EF4-FFF2-40B4-BE49-F238E27FC236}">
                <ns2:creationId id="{94CDB17E-1009-40BD-82C6-37F701034E3A}"/>
              </a:ext>
            </a:extLst>
          </p:cNvPr>
          <p:cNvSpPr>
            <a:spLocks noGrp="1"/>
          </p:cNvSpPr>
          <p:nvPr/>
        </p:nvSpPr>
        <p:spPr>
          <a:xfrm>
            <a:off x="2381250" y="3171825"/>
            <a:ext cx="3571875" cy="1047750"/>
          </a:xfrm>
          <a:prstGeom prst="rect">
            <a:avLst/>
          </a:prstGeom>
          <a:noFill/>
          <a:ln w="0">
            <a:noFill/>
          </a:ln>
        </p:spPr>
        <p:txBody>
          <a:bodyPr wrap="square" lIns="0" tIns="0" rIns="0" bIns="0" anchor="t">
            <a:noAutofit/>
          </a:bodyPr>
          <a:lstStyle/>
          <a:p>
            <a:pPr>
              <a:defRPr sz="1950" b="0">
                <a:solidFill>
                  <a:srgbClr val="302E29"/>
                </a:solidFill>
                <a:latin typeface="Malgun Gothic"/>
                <a:ea typeface="Malgun Gothic"/>
                <a:cs typeface="Malgun Gothic"/>
              </a:defRPr>
            </a:pPr>
            <a:r>
              <a:rPr sz="1950" b="0">
                <a:solidFill>
                  <a:srgbClr val="302E29"/>
                </a:solidFill>
                <a:latin typeface="Malgun Gothic"/>
                <a:ea typeface="Malgun Gothic"/>
                <a:cs typeface="Malgun Gothic"/>
              </a:rPr>
              <a:t>결론·근거 작성과 후속 질문 답변</a:t>
            </a:r>
          </a:p>
        </p:txBody>
      </p:sp>
      <p:sp>
        <p:nvSpPr>
          <p:cNvPr id="8" name="결과 보관">
            <a:extLst>
              <a:ext uri="{FF2B5EF4-FFF2-40B4-BE49-F238E27FC236}">
                <ns2:creationId id="{C97E14CE-C0AD-4C46-B211-03833A93AD8C}"/>
              </a:ext>
            </a:extLst>
          </p:cNvPr>
          <p:cNvSpPr>
            <a:spLocks noGrp="1"/>
          </p:cNvSpPr>
          <p:nvPr/>
        </p:nvSpPr>
        <p:spPr>
          <a:xfrm>
            <a:off x="2381250" y="3914775"/>
            <a:ext cx="3571875" cy="409575"/>
          </a:xfrm>
          <a:prstGeom prst="rect">
            <a:avLst/>
          </a:prstGeom>
          <a:noFill/>
          <a:ln w="0">
            <a:noFill/>
          </a:ln>
        </p:spPr>
        <p:txBody>
          <a:bodyPr wrap="square" lIns="0" tIns="0" rIns="0" bIns="0" anchor="t">
            <a:noAutofit/>
          </a:bodyPr>
          <a:lstStyle/>
          <a:p>
            <a:pPr>
              <a:defRPr sz="2175" b="1">
                <a:solidFill>
                  <a:srgbClr val="586240"/>
                </a:solidFill>
                <a:latin typeface="Malgun Gothic"/>
                <a:ea typeface="Malgun Gothic"/>
                <a:cs typeface="Malgun Gothic"/>
              </a:defRPr>
            </a:pPr>
            <a:r>
              <a:rPr sz="2175" b="1">
                <a:solidFill>
                  <a:srgbClr val="586240"/>
                </a:solidFill>
                <a:latin typeface="Malgun Gothic"/>
                <a:ea typeface="Malgun Gothic"/>
                <a:cs typeface="Malgun Gothic"/>
              </a:rPr>
              <a:t>결과 보관</a:t>
            </a:r>
          </a:p>
        </p:txBody>
      </p:sp>
      <p:sp>
        <p:nvSpPr>
          <p:cNvPr id="9" name="포럼 요약과 PDF 다운로드">
            <a:extLst>
              <a:ext uri="{FF2B5EF4-FFF2-40B4-BE49-F238E27FC236}">
                <ns2:creationId id="{A667B379-DA42-425E-A7E0-A898261D9FA3}"/>
              </a:ext>
            </a:extLst>
          </p:cNvPr>
          <p:cNvSpPr>
            <a:spLocks noGrp="1"/>
          </p:cNvSpPr>
          <p:nvPr/>
        </p:nvSpPr>
        <p:spPr>
          <a:xfrm>
            <a:off x="2381250" y="4381500"/>
            <a:ext cx="3571875" cy="1047750"/>
          </a:xfrm>
          <a:prstGeom prst="rect">
            <a:avLst/>
          </a:prstGeom>
          <a:noFill/>
          <a:ln w="0">
            <a:noFill/>
          </a:ln>
        </p:spPr>
        <p:txBody>
          <a:bodyPr wrap="square" lIns="0" tIns="0" rIns="0" bIns="0" anchor="t">
            <a:noAutofit/>
          </a:bodyPr>
          <a:lstStyle/>
          <a:p>
            <a:pPr>
              <a:defRPr sz="1950" b="0">
                <a:solidFill>
                  <a:srgbClr val="302E29"/>
                </a:solidFill>
                <a:latin typeface="Malgun Gothic"/>
                <a:ea typeface="Malgun Gothic"/>
                <a:cs typeface="Malgun Gothic"/>
              </a:defRPr>
            </a:pPr>
            <a:r>
              <a:rPr sz="1950" b="0">
                <a:solidFill>
                  <a:srgbClr val="302E29"/>
                </a:solidFill>
                <a:latin typeface="Malgun Gothic"/>
                <a:ea typeface="Malgun Gothic"/>
                <a:cs typeface="Malgun Gothic"/>
              </a:rPr>
              <a:t>포럼 요약과 PDF 다운로드</a:t>
            </a:r>
          </a:p>
        </p:txBody>
      </p:sp>
      <p:sp>
        <p:nvSpPr>
          <p:cNvPr id="10" name="기록 재개">
            <a:extLst>
              <a:ext uri="{FF2B5EF4-FFF2-40B4-BE49-F238E27FC236}">
                <ns2:creationId id="{761C6C1D-C358-4CE7-9D21-E02B912AAA04}"/>
              </a:ext>
            </a:extLst>
          </p:cNvPr>
          <p:cNvSpPr>
            <a:spLocks noGrp="1"/>
          </p:cNvSpPr>
          <p:nvPr/>
        </p:nvSpPr>
        <p:spPr>
          <a:xfrm>
            <a:off x="2381250" y="5124450"/>
            <a:ext cx="3571875" cy="409575"/>
          </a:xfrm>
          <a:prstGeom prst="rect">
            <a:avLst/>
          </a:prstGeom>
          <a:noFill/>
          <a:ln w="0">
            <a:noFill/>
          </a:ln>
        </p:spPr>
        <p:txBody>
          <a:bodyPr wrap="square" lIns="0" tIns="0" rIns="0" bIns="0" anchor="t">
            <a:noAutofit/>
          </a:bodyPr>
          <a:lstStyle/>
          <a:p>
            <a:pPr>
              <a:defRPr sz="2175" b="1">
                <a:solidFill>
                  <a:srgbClr val="586240"/>
                </a:solidFill>
                <a:latin typeface="Malgun Gothic"/>
                <a:ea typeface="Malgun Gothic"/>
                <a:cs typeface="Malgun Gothic"/>
              </a:defRPr>
            </a:pPr>
            <a:r>
              <a:rPr sz="2175" b="1">
                <a:solidFill>
                  <a:srgbClr val="586240"/>
                </a:solidFill>
                <a:latin typeface="Malgun Gothic"/>
                <a:ea typeface="Malgun Gothic"/>
                <a:cs typeface="Malgun Gothic"/>
              </a:rPr>
              <a:t>기록 재개</a:t>
            </a:r>
          </a:p>
        </p:txBody>
      </p:sp>
      <p:sp>
        <p:nvSpPr>
          <p:cNvPr id="11" name="내 훈련을 확인하고 이어 하기">
            <a:extLst>
              <a:ext uri="{FF2B5EF4-FFF2-40B4-BE49-F238E27FC236}">
                <ns2:creationId id="{C745812B-3964-45C9-8177-99315B90AB5C}"/>
              </a:ext>
            </a:extLst>
          </p:cNvPr>
          <p:cNvSpPr>
            <a:spLocks noGrp="1"/>
          </p:cNvSpPr>
          <p:nvPr/>
        </p:nvSpPr>
        <p:spPr>
          <a:xfrm>
            <a:off x="2381250" y="5591175"/>
            <a:ext cx="3571875" cy="1047750"/>
          </a:xfrm>
          <a:prstGeom prst="rect">
            <a:avLst/>
          </a:prstGeom>
          <a:noFill/>
          <a:ln w="0">
            <a:noFill/>
          </a:ln>
        </p:spPr>
        <p:txBody>
          <a:bodyPr wrap="square" lIns="0" tIns="0" rIns="0" bIns="0" anchor="t">
            <a:noAutofit/>
          </a:bodyPr>
          <a:lstStyle/>
          <a:p>
            <a:pPr>
              <a:defRPr sz="1950" b="0">
                <a:solidFill>
                  <a:srgbClr val="302E29"/>
                </a:solidFill>
                <a:latin typeface="Malgun Gothic"/>
                <a:ea typeface="Malgun Gothic"/>
                <a:cs typeface="Malgun Gothic"/>
              </a:defRPr>
            </a:pPr>
            <a:r>
              <a:rPr sz="1950" b="0">
                <a:solidFill>
                  <a:srgbClr val="302E29"/>
                </a:solidFill>
                <a:latin typeface="Malgun Gothic"/>
                <a:ea typeface="Malgun Gothic"/>
                <a:cs typeface="Malgun Gothic"/>
              </a:rPr>
              <a:t>내 훈련을 확인하고 이어 하기</a:t>
            </a:r>
          </a:p>
        </p:txBody>
      </p:sp>
      <p:pic>
        <p:nvPicPr>
          <p:cNvPr id="24" name=""/>
          <p:cNvPicPr>
            <a:picLocks noChangeAspect="1"/>
          </p:cNvPicPr>
          <p:nvPr/>
        </p:nvPicPr>
        <p:blipFill>
          <a:blip r:embed="R9b89f187c75b4649"/>
          <a:srcRect l="24400" t="12000" r="27000" b="9000"/>
          <a:stretch/>
        </p:blipFill>
        <p:spPr>
          <a:xfrm>
            <a:off x="6734175" y="2286000"/>
            <a:ext cx="4781550" cy="3695700"/>
          </a:xfrm>
          <a:prstGeom prst="rect">
            <a:avLst/>
          </a:prstGeom>
        </p:spPr>
      </p:pic>
    </p:spTree>
    <p:extLst>
      <p:ext uri="{BB962C8B-B14F-4D97-AF65-F5344CB8AC3E}">
        <ns4:creationId val="1469522116"/>
      </p:ext>
    </p:extLst>
  </p:cSld>
</p:sld>
</file>

<file path=ppt/slides/slide8.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6" name="03">
            <a:extLst xmlns:a="http://schemas.openxmlformats.org/drawingml/2006/main">
              <a:ext uri="{FF2B5EF4-FFF2-40B4-BE49-F238E27FC236}">
                <a16:creationId xmlns:a16="http://schemas.microsoft.com/office/drawing/2014/main" id="{9399CC5C-E85A-4A81-8A12-6D512D15413D}"/>
              </a:ext>
            </a:extLst>
          </p:cNvPr>
          <p:cNvSpPr>
            <a:spLocks xmlns:a="http://schemas.openxmlformats.org/drawingml/2006/main" noGrp="1"/>
          </p:cNvSpPr>
          <p:nvPr/>
        </p:nvSpPr>
        <p:spPr>
          <a:xfrm xmlns:a="http://schemas.openxmlformats.org/drawingml/2006/main">
            <a:off x="609600" y="457200"/>
            <a:ext cx="1238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350" b="1">
                <a:solidFill>
                  <a:srgbClr val="652A3A"/>
                </a:solidFill>
                <a:latin typeface="Malgun Gothic"/>
                <a:ea typeface="Malgun Gothic"/>
                <a:cs typeface="Malgun Gothic"/>
              </a:defRPr>
            </a:pPr>
            <a:r>
              <a:rPr sz="4350" b="1">
                <a:solidFill>
                  <a:srgbClr val="652A3A"/>
                </a:solidFill>
                <a:latin typeface="Malgun Gothic"/>
                <a:ea typeface="Malgun Gothic"/>
                <a:cs typeface="Malgun Gothic"/>
              </a:rPr>
              <a:t>02</a:t>
            </a:r>
          </a:p>
        </p:txBody>
      </p:sp>
      <p:sp>
        <p:nvSpPr>
          <p:cNvPr id="2" name="기능">
            <a:extLst xmlns:a="http://schemas.openxmlformats.org/drawingml/2006/main">
              <a:ext uri="{FF2B5EF4-FFF2-40B4-BE49-F238E27FC236}">
                <a16:creationId xmlns:a16="http://schemas.microsoft.com/office/drawing/2014/main" id="{6A5DE79B-5DAB-4D54-A836-5F55209857A5}"/>
              </a:ext>
            </a:extLst>
          </p:cNvPr>
          <p:cNvSpPr>
            <a:spLocks xmlns:a="http://schemas.openxmlformats.org/drawingml/2006/main" noGrp="1"/>
          </p:cNvSpPr>
          <p:nvPr/>
        </p:nvSpPr>
        <p:spPr>
          <a:xfrm xmlns:a="http://schemas.openxmlformats.org/drawingml/2006/main">
            <a:off x="609600" y="1314450"/>
            <a:ext cx="12763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797468"/>
                </a:solidFill>
                <a:latin typeface="Malgun Gothic"/>
                <a:ea typeface="Malgun Gothic"/>
                <a:cs typeface="Malgun Gothic"/>
              </a:defRPr>
            </a:pPr>
            <a:r>
              <a:rPr sz="1725" b="0">
                <a:solidFill>
                  <a:srgbClr val="797468"/>
                </a:solidFill>
                <a:latin typeface="Malgun Gothic"/>
                <a:ea typeface="Malgun Gothic"/>
                <a:cs typeface="Malgun Gothic"/>
              </a:rPr>
              <a:t>기능</a:t>
            </a:r>
          </a:p>
        </p:txBody>
      </p:sp>
      <p:sp>
        <p:nvSpPr>
          <p:cNvPr id="3" name="Discord 주요 명령어">
            <a:extLst xmlns:a="http://schemas.openxmlformats.org/drawingml/2006/main">
              <a:ext uri="{FF2B5EF4-FFF2-40B4-BE49-F238E27FC236}">
                <a16:creationId xmlns:a16="http://schemas.microsoft.com/office/drawing/2014/main" id="{6AE41388-7D7F-4B12-8AB7-6695DB830787}"/>
              </a:ext>
            </a:extLst>
          </p:cNvPr>
          <p:cNvSpPr>
            <a:spLocks xmlns:a="http://schemas.openxmlformats.org/drawingml/2006/main" noGrp="1"/>
          </p:cNvSpPr>
          <p:nvPr/>
        </p:nvSpPr>
        <p:spPr>
          <a:xfrm xmlns:a="http://schemas.openxmlformats.org/drawingml/2006/main">
            <a:off x="2381250" y="542925"/>
            <a:ext cx="91059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652A3A"/>
                </a:solidFill>
                <a:latin typeface="Malgun Gothic"/>
                <a:ea typeface="Malgun Gothic"/>
                <a:cs typeface="Malgun Gothic"/>
              </a:defRPr>
            </a:pPr>
            <a:r>
              <a:rPr sz="2925" b="1">
                <a:solidFill>
                  <a:srgbClr val="652A3A"/>
                </a:solidFill>
                <a:latin typeface="Malgun Gothic"/>
                <a:ea typeface="Malgun Gothic"/>
                <a:cs typeface="Malgun Gothic"/>
              </a:rPr>
              <a:t>Discord 주요 명령어</a:t>
            </a:r>
          </a:p>
        </p:txBody>
      </p:sp>
      <p:sp>
        <p:nvSpPr>
          <p:cNvPr id="4" name="10">
            <a:extLst xmlns:a="http://schemas.openxmlformats.org/drawingml/2006/main">
              <a:ext uri="{FF2B5EF4-FFF2-40B4-BE49-F238E27FC236}">
                <a16:creationId xmlns:a16="http://schemas.microsoft.com/office/drawing/2014/main" id="{6002975D-B6B7-4A6E-9A81-B1A9585A6295}"/>
              </a:ext>
            </a:extLst>
          </p:cNvPr>
          <p:cNvSpPr>
            <a:spLocks xmlns:a="http://schemas.openxmlformats.org/drawingml/2006/main" noGrp="1"/>
          </p:cNvSpPr>
          <p:nvPr/>
        </p:nvSpPr>
        <p:spPr>
          <a:xfrm xmlns:a="http://schemas.openxmlformats.org/drawingml/2006/main">
            <a:off x="609600" y="6200775"/>
            <a:ext cx="914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75" b="0">
                <a:solidFill>
                  <a:srgbClr val="797468"/>
                </a:solidFill>
                <a:latin typeface="Malgun Gothic"/>
                <a:ea typeface="Malgun Gothic"/>
                <a:cs typeface="Malgun Gothic"/>
              </a:defRPr>
            </a:pPr>
            <a:r>
              <a:rPr sz="1575" b="0">
                <a:solidFill>
                  <a:srgbClr val="797468"/>
                </a:solidFill>
                <a:latin typeface="Malgun Gothic"/>
                <a:ea typeface="Malgun Gothic"/>
                <a:cs typeface="Malgun Gothic"/>
              </a:rPr>
              <a:t>08</a:t>
            </a:r>
          </a:p>
        </p:txBody>
      </p:sp>
      <p:graphicFrame>
        <p:nvGraphicFramePr>
          <p:cNvPr id="10" name=""/>
          <p:cNvGraphicFramePr/>
          <p:nvPr/>
        </p:nvGraphicFramePr>
        <p:xfrm>
          <a:off xmlns:a="http://schemas.openxmlformats.org/drawingml/2006/main" x="2381250" y="1514475"/>
          <a:ext xmlns:a="http://schemas.openxmlformats.org/drawingml/2006/main" cx="9144000" cy="4914900"/>
        </p:xfrm>
        <a:graphic xmlns:a="http://schemas.openxmlformats.org/drawingml/2006/main">
          <a:graphicData uri="http://schemas.openxmlformats.org/drawingml/2006/table">
            <a:tbl>
              <a:tblPr firstRow="0" bandRow="0"/>
              <a:tblGrid>
                <a:gridCol w="2705100"/>
                <a:gridCol w="6438900"/>
              </a:tblGrid>
              <a:tr h="409575">
                <a:tc>
                  <a:txBody>
                    <a:bodyPr>
                      <a:noAutofit/>
                    </a:bodyPr>
                    <a:lstStyle/>
                    <a:p>
                      <a:r>
                        <a:rPr sz="1875" b="1">
                          <a:solidFill>
                            <a:srgbClr val="FFFBF3"/>
                          </a:solidFill>
                          <a:latin typeface="Malgun Gothic"/>
                          <a:ea typeface="Malgun Gothic"/>
                          <a:cs typeface="Malgun Gothic"/>
                        </a:rPr>
                        <a:t>명령어</a:t>
                      </a:r>
                    </a:p>
                  </a:txBody>
                  <a:tcPr marL="91440" marR="91440" marT="45720" marB="45720" anchor="ctr">
                    <a:solidFill>
                      <a:srgbClr val="652A3A"/>
                    </a:solidFill>
                  </a:tcPr>
                </a:tc>
                <a:tc>
                  <a:txBody>
                    <a:bodyPr>
                      <a:noAutofit/>
                    </a:bodyPr>
                    <a:lstStyle/>
                    <a:p>
                      <a:r>
                        <a:rPr sz="1875" b="1">
                          <a:solidFill>
                            <a:srgbClr val="FFFBF3"/>
                          </a:solidFill>
                          <a:latin typeface="Malgun Gothic"/>
                          <a:ea typeface="Malgun Gothic"/>
                          <a:cs typeface="Malgun Gothic"/>
                        </a:rPr>
                        <a:t>기능</a:t>
                      </a:r>
                    </a:p>
                  </a:txBody>
                  <a:tcPr marL="91440" marR="91440" marT="45720" marB="45720" anchor="ctr">
                    <a:solidFill>
                      <a:srgbClr val="652A3A"/>
                    </a:solidFill>
                  </a:tcPr>
                </a:tc>
              </a:tr>
              <a:tr h="409575">
                <a:tc>
                  <a:txBody>
                    <a:bodyPr>
                      <a:noAutofit/>
                    </a:bodyPr>
                    <a:lstStyle/>
                    <a:p>
                      <a:r>
                        <a:rPr sz="1725" b="1">
                          <a:solidFill>
                            <a:srgbClr val="652A3A"/>
                          </a:solidFill>
                          <a:latin typeface="Malgun Gothic"/>
                          <a:ea typeface="Malgun Gothic"/>
                          <a:cs typeface="Malgun Gothic"/>
                        </a:rPr>
                        <a:t>/training</a:t>
                      </a:r>
                    </a:p>
                  </a:txBody>
                  <a:tcPr marL="91440" marR="91440" marT="45720" marB="45720" anchor="ctr">
                    <a:solidFill>
                      <a:srgbClr val="F6F2E9"/>
                    </a:solidFill>
                  </a:tcPr>
                </a:tc>
                <a:tc>
                  <a:txBody>
                    <a:bodyPr>
                      <a:noAutofit/>
                    </a:bodyPr>
                    <a:lstStyle/>
                    <a:p>
                      <a:r>
                        <a:rPr sz="1725" b="0">
                          <a:solidFill>
                            <a:srgbClr val="302E29"/>
                          </a:solidFill>
                          <a:latin typeface="Malgun Gothic"/>
                          <a:ea typeface="Malgun Gothic"/>
                          <a:cs typeface="Malgun Gothic"/>
                        </a:rPr>
                        <a:t>주제·난이도를 선택해 SQL 또는 분석 연습 시작</a:t>
                      </a:r>
                    </a:p>
                  </a:txBody>
                  <a:tcPr marL="91440" marR="91440" marT="45720" marB="45720" anchor="ctr">
                    <a:solidFill>
                      <a:srgbClr val="F6F2E9"/>
                    </a:solidFill>
                  </a:tcPr>
                </a:tc>
              </a:tr>
              <a:tr h="409575">
                <a:tc>
                  <a:txBody>
                    <a:bodyPr>
                      <a:noAutofit/>
                    </a:bodyPr>
                    <a:lstStyle/>
                    <a:p>
                      <a:r>
                        <a:rPr sz="1725" b="1">
                          <a:solidFill>
                            <a:srgbClr val="652A3A"/>
                          </a:solidFill>
                          <a:latin typeface="Malgun Gothic"/>
                          <a:ea typeface="Malgun Gothic"/>
                          <a:cs typeface="Malgun Gothic"/>
                        </a:rPr>
                        <a:t>/data</a:t>
                      </a:r>
                    </a:p>
                  </a:txBody>
                  <a:tcPr marL="91440" marR="91440" marT="45720" marB="45720" anchor="ctr">
                    <a:solidFill>
                      <a:srgbClr val="F6F2E9"/>
                    </a:solidFill>
                  </a:tcPr>
                </a:tc>
                <a:tc>
                  <a:txBody>
                    <a:bodyPr>
                      <a:noAutofit/>
                    </a:bodyPr>
                    <a:lstStyle/>
                    <a:p>
                      <a:r>
                        <a:rPr sz="1725" b="0">
                          <a:solidFill>
                            <a:srgbClr val="302E29"/>
                          </a:solidFill>
                          <a:latin typeface="Malgun Gothic"/>
                          <a:ea typeface="Malgun Gothic"/>
                          <a:cs typeface="Malgun Gothic"/>
                        </a:rPr>
                        <a:t>분석 연습에서 자연어로 데이터 조회</a:t>
                      </a:r>
                    </a:p>
                  </a:txBody>
                  <a:tcPr marL="91440" marR="91440" marT="45720" marB="45720" anchor="ctr">
                    <a:solidFill>
                      <a:srgbClr val="F6F2E9"/>
                    </a:solidFill>
                  </a:tcPr>
                </a:tc>
              </a:tr>
              <a:tr h="409575">
                <a:tc>
                  <a:txBody>
                    <a:bodyPr>
                      <a:noAutofit/>
                    </a:bodyPr>
                    <a:lstStyle/>
                    <a:p>
                      <a:r>
                        <a:rPr sz="1725" b="1">
                          <a:solidFill>
                            <a:srgbClr val="652A3A"/>
                          </a:solidFill>
                          <a:latin typeface="Malgun Gothic"/>
                          <a:ea typeface="Malgun Gothic"/>
                          <a:cs typeface="Malgun Gothic"/>
                        </a:rPr>
                        <a:t>/sqlrun</a:t>
                      </a:r>
                    </a:p>
                  </a:txBody>
                  <a:tcPr marL="91440" marR="91440" marT="45720" marB="45720" anchor="ctr">
                    <a:solidFill>
                      <a:srgbClr val="F6F2E9"/>
                    </a:solidFill>
                  </a:tcPr>
                </a:tc>
                <a:tc>
                  <a:txBody>
                    <a:bodyPr>
                      <a:noAutofit/>
                    </a:bodyPr>
                    <a:lstStyle/>
                    <a:p>
                      <a:r>
                        <a:rPr sz="1725" b="0">
                          <a:solidFill>
                            <a:srgbClr val="302E29"/>
                          </a:solidFill>
                          <a:latin typeface="Malgun Gothic"/>
                          <a:ea typeface="Malgun Gothic"/>
                          <a:cs typeface="Malgun Gothic"/>
                        </a:rPr>
                        <a:t>SQL 연습에서 직접 작성한 SQL 실행</a:t>
                      </a:r>
                    </a:p>
                  </a:txBody>
                  <a:tcPr marL="91440" marR="91440" marT="45720" marB="45720" anchor="ctr">
                    <a:solidFill>
                      <a:srgbClr val="F6F2E9"/>
                    </a:solidFill>
                  </a:tcPr>
                </a:tc>
              </a:tr>
              <a:tr h="409575">
                <a:tc>
                  <a:txBody>
                    <a:bodyPr>
                      <a:noAutofit/>
                    </a:bodyPr>
                    <a:lstStyle/>
                    <a:p>
                      <a:r>
                        <a:rPr sz="1725" b="1">
                          <a:solidFill>
                            <a:srgbClr val="652A3A"/>
                          </a:solidFill>
                          <a:latin typeface="Malgun Gothic"/>
                          <a:ea typeface="Malgun Gothic"/>
                          <a:cs typeface="Malgun Gothic"/>
                        </a:rPr>
                        <a:t>/sql</a:t>
                      </a:r>
                    </a:p>
                  </a:txBody>
                  <a:tcPr marL="91440" marR="91440" marT="45720" marB="45720" anchor="ctr">
                    <a:solidFill>
                      <a:srgbClr val="F6F2E9"/>
                    </a:solidFill>
                  </a:tcPr>
                </a:tc>
                <a:tc>
                  <a:txBody>
                    <a:bodyPr>
                      <a:noAutofit/>
                    </a:bodyPr>
                    <a:lstStyle/>
                    <a:p>
                      <a:r>
                        <a:rPr sz="1725" b="0">
                          <a:solidFill>
                            <a:srgbClr val="302E29"/>
                          </a:solidFill>
                          <a:latin typeface="Malgun Gothic"/>
                          <a:ea typeface="Malgun Gothic"/>
                          <a:cs typeface="Malgun Gothic"/>
                        </a:rPr>
                        <a:t>저장된 실행의 SQL 확인</a:t>
                      </a:r>
                    </a:p>
                  </a:txBody>
                  <a:tcPr marL="91440" marR="91440" marT="45720" marB="45720" anchor="ctr">
                    <a:solidFill>
                      <a:srgbClr val="F6F2E9"/>
                    </a:solidFill>
                  </a:tcPr>
                </a:tc>
              </a:tr>
              <a:tr h="409575">
                <a:tc>
                  <a:txBody>
                    <a:bodyPr>
                      <a:noAutofit/>
                    </a:bodyPr>
                    <a:lstStyle/>
                    <a:p>
                      <a:r>
                        <a:rPr sz="1725" b="1">
                          <a:solidFill>
                            <a:srgbClr val="652A3A"/>
                          </a:solidFill>
                          <a:latin typeface="Malgun Gothic"/>
                          <a:ea typeface="Malgun Gothic"/>
                          <a:cs typeface="Malgun Gothic"/>
                        </a:rPr>
                        <a:t>/help</a:t>
                      </a:r>
                    </a:p>
                  </a:txBody>
                  <a:tcPr marL="91440" marR="91440" marT="45720" marB="45720" anchor="ctr">
                    <a:solidFill>
                      <a:srgbClr val="F6F2E9"/>
                    </a:solidFill>
                  </a:tcPr>
                </a:tc>
                <a:tc>
                  <a:txBody>
                    <a:bodyPr>
                      <a:noAutofit/>
                    </a:bodyPr>
                    <a:lstStyle/>
                    <a:p>
                      <a:r>
                        <a:rPr sz="1725" b="0">
                          <a:solidFill>
                            <a:srgbClr val="302E29"/>
                          </a:solidFill>
                          <a:latin typeface="Malgun Gothic"/>
                          <a:ea typeface="Malgun Gothic"/>
                          <a:cs typeface="Malgun Gothic"/>
                        </a:rPr>
                        <a:t>개념·분석 방향·중간 피드백·데이터 사전 도움</a:t>
                      </a:r>
                    </a:p>
                  </a:txBody>
                  <a:tcPr marL="91440" marR="91440" marT="45720" marB="45720" anchor="ctr">
                    <a:solidFill>
                      <a:srgbClr val="F6F2E9"/>
                    </a:solidFill>
                  </a:tcPr>
                </a:tc>
              </a:tr>
              <a:tr h="409575">
                <a:tc>
                  <a:txBody>
                    <a:bodyPr>
                      <a:noAutofit/>
                    </a:bodyPr>
                    <a:lstStyle/>
                    <a:p>
                      <a:r>
                        <a:rPr sz="1725" b="1">
                          <a:solidFill>
                            <a:srgbClr val="652A3A"/>
                          </a:solidFill>
                          <a:latin typeface="Malgun Gothic"/>
                          <a:ea typeface="Malgun Gothic"/>
                          <a:cs typeface="Malgun Gothic"/>
                        </a:rPr>
                        <a:t>/question</a:t>
                      </a:r>
                    </a:p>
                  </a:txBody>
                  <a:tcPr marL="91440" marR="91440" marT="45720" marB="45720" anchor="ctr">
                    <a:solidFill>
                      <a:srgbClr val="F6F2E9"/>
                    </a:solidFill>
                  </a:tcPr>
                </a:tc>
                <a:tc>
                  <a:txBody>
                    <a:bodyPr>
                      <a:noAutofit/>
                    </a:bodyPr>
                    <a:lstStyle/>
                    <a:p>
                      <a:r>
                        <a:rPr sz="1725" b="0">
                          <a:solidFill>
                            <a:srgbClr val="302E29"/>
                          </a:solidFill>
                          <a:latin typeface="Malgun Gothic"/>
                          <a:ea typeface="Malgun Gothic"/>
                          <a:cs typeface="Malgun Gothic"/>
                        </a:rPr>
                        <a:t>게임 분석 용어 설명</a:t>
                      </a:r>
                    </a:p>
                  </a:txBody>
                  <a:tcPr marL="91440" marR="91440" marT="45720" marB="45720" anchor="ctr">
                    <a:solidFill>
                      <a:srgbClr val="F6F2E9"/>
                    </a:solidFill>
                  </a:tcPr>
                </a:tc>
              </a:tr>
              <a:tr h="409575">
                <a:tc>
                  <a:txBody>
                    <a:bodyPr>
                      <a:noAutofit/>
                    </a:bodyPr>
                    <a:lstStyle/>
                    <a:p>
                      <a:r>
                        <a:rPr sz="1725" b="1">
                          <a:solidFill>
                            <a:srgbClr val="652A3A"/>
                          </a:solidFill>
                          <a:latin typeface="Malgun Gothic"/>
                          <a:ea typeface="Malgun Gothic"/>
                          <a:cs typeface="Malgun Gothic"/>
                        </a:rPr>
                        <a:t>/evidence</a:t>
                      </a:r>
                    </a:p>
                  </a:txBody>
                  <a:tcPr marL="91440" marR="91440" marT="45720" marB="45720" anchor="ctr">
                    <a:solidFill>
                      <a:srgbClr val="F6F2E9"/>
                    </a:solidFill>
                  </a:tcPr>
                </a:tc>
                <a:tc>
                  <a:txBody>
                    <a:bodyPr>
                      <a:noAutofit/>
                    </a:bodyPr>
                    <a:lstStyle/>
                    <a:p>
                      <a:r>
                        <a:rPr sz="1725" b="0">
                          <a:solidFill>
                            <a:srgbClr val="302E29"/>
                          </a:solidFill>
                          <a:latin typeface="Malgun Gothic"/>
                          <a:ea typeface="Malgun Gothic"/>
                          <a:cs typeface="Malgun Gothic"/>
                        </a:rPr>
                        <a:t>성공한 조회 결과를 보고서 근거로 선택</a:t>
                      </a:r>
                    </a:p>
                  </a:txBody>
                  <a:tcPr marL="91440" marR="91440" marT="45720" marB="45720" anchor="ctr">
                    <a:solidFill>
                      <a:srgbClr val="F6F2E9"/>
                    </a:solidFill>
                  </a:tcPr>
                </a:tc>
              </a:tr>
              <a:tr h="409575">
                <a:tc>
                  <a:txBody>
                    <a:bodyPr>
                      <a:noAutofit/>
                    </a:bodyPr>
                    <a:lstStyle/>
                    <a:p>
                      <a:r>
                        <a:rPr sz="1725" b="1">
                          <a:solidFill>
                            <a:srgbClr val="652A3A"/>
                          </a:solidFill>
                          <a:latin typeface="Malgun Gothic"/>
                          <a:ea typeface="Malgun Gothic"/>
                          <a:cs typeface="Malgun Gothic"/>
                        </a:rPr>
                        <a:t>/report</a:t>
                      </a:r>
                    </a:p>
                  </a:txBody>
                  <a:tcPr marL="91440" marR="91440" marT="45720" marB="45720" anchor="ctr">
                    <a:solidFill>
                      <a:srgbClr val="F6F2E9"/>
                    </a:solidFill>
                  </a:tcPr>
                </a:tc>
                <a:tc>
                  <a:txBody>
                    <a:bodyPr>
                      <a:noAutofit/>
                    </a:bodyPr>
                    <a:lstStyle/>
                    <a:p>
                      <a:r>
                        <a:rPr sz="1725" b="0">
                          <a:solidFill>
                            <a:srgbClr val="302E29"/>
                          </a:solidFill>
                          <a:latin typeface="Malgun Gothic"/>
                          <a:ea typeface="Malgun Gothic"/>
                          <a:cs typeface="Malgun Gothic"/>
                        </a:rPr>
                        <a:t>분석 보고서 작성·수정</a:t>
                      </a:r>
                    </a:p>
                  </a:txBody>
                  <a:tcPr marL="91440" marR="91440" marT="45720" marB="45720" anchor="ctr">
                    <a:solidFill>
                      <a:srgbClr val="F6F2E9"/>
                    </a:solidFill>
                  </a:tcPr>
                </a:tc>
              </a:tr>
              <a:tr h="409575">
                <a:tc>
                  <a:txBody>
                    <a:bodyPr>
                      <a:noAutofit/>
                    </a:bodyPr>
                    <a:lstStyle/>
                    <a:p>
                      <a:r>
                        <a:rPr sz="1725" b="1">
                          <a:solidFill>
                            <a:srgbClr val="652A3A"/>
                          </a:solidFill>
                          <a:latin typeface="Malgun Gothic"/>
                          <a:ea typeface="Malgun Gothic"/>
                          <a:cs typeface="Malgun Gothic"/>
                        </a:rPr>
                        <a:t>/answer · /followup</a:t>
                      </a:r>
                    </a:p>
                  </a:txBody>
                  <a:tcPr marL="91440" marR="91440" marT="45720" marB="45720" anchor="ctr">
                    <a:solidFill>
                      <a:srgbClr val="F6F2E9"/>
                    </a:solidFill>
                  </a:tcPr>
                </a:tc>
                <a:tc>
                  <a:txBody>
                    <a:bodyPr>
                      <a:noAutofit/>
                    </a:bodyPr>
                    <a:lstStyle/>
                    <a:p>
                      <a:r>
                        <a:rPr sz="1725" b="0">
                          <a:solidFill>
                            <a:srgbClr val="302E29"/>
                          </a:solidFill>
                          <a:latin typeface="Malgun Gothic"/>
                          <a:ea typeface="Malgun Gothic"/>
                          <a:cs typeface="Malgun Gothic"/>
                        </a:rPr>
                        <a:t>봇의 확인 질문·보고 후속 질문에 답변</a:t>
                      </a:r>
                    </a:p>
                  </a:txBody>
                  <a:tcPr marL="91440" marR="91440" marT="45720" marB="45720" anchor="ctr">
                    <a:solidFill>
                      <a:srgbClr val="F6F2E9"/>
                    </a:solidFill>
                  </a:tcPr>
                </a:tc>
              </a:tr>
              <a:tr h="409575">
                <a:tc>
                  <a:txBody>
                    <a:bodyPr>
                      <a:noAutofit/>
                    </a:bodyPr>
                    <a:lstStyle/>
                    <a:p>
                      <a:r>
                        <a:rPr sz="1725" b="1">
                          <a:solidFill>
                            <a:srgbClr val="652A3A"/>
                          </a:solidFill>
                          <a:latin typeface="Malgun Gothic"/>
                          <a:ea typeface="Malgun Gothic"/>
                          <a:cs typeface="Malgun Gothic"/>
                        </a:rPr>
                        <a:t>/submit</a:t>
                      </a:r>
                    </a:p>
                  </a:txBody>
                  <a:tcPr marL="91440" marR="91440" marT="45720" marB="45720" anchor="ctr">
                    <a:solidFill>
                      <a:srgbClr val="F6F2E9"/>
                    </a:solidFill>
                  </a:tcPr>
                </a:tc>
                <a:tc>
                  <a:txBody>
                    <a:bodyPr>
                      <a:noAutofit/>
                    </a:bodyPr>
                    <a:lstStyle/>
                    <a:p>
                      <a:r>
                        <a:rPr sz="1725" b="0">
                          <a:solidFill>
                            <a:srgbClr val="302E29"/>
                          </a:solidFill>
                          <a:latin typeface="Malgun Gothic"/>
                          <a:ea typeface="Malgun Gothic"/>
                          <a:cs typeface="Malgun Gothic"/>
                        </a:rPr>
                        <a:t>분석 보고서 또는 SQL 풀이의 최종 평가 요청</a:t>
                      </a:r>
                    </a:p>
                  </a:txBody>
                  <a:tcPr marL="91440" marR="91440" marT="45720" marB="45720" anchor="ctr">
                    <a:solidFill>
                      <a:srgbClr val="F6F2E9"/>
                    </a:solidFill>
                  </a:tcPr>
                </a:tc>
              </a:tr>
              <a:tr h="409575">
                <a:tc>
                  <a:txBody>
                    <a:bodyPr>
                      <a:noAutofit/>
                    </a:bodyPr>
                    <a:lstStyle/>
                    <a:p>
                      <a:r>
                        <a:rPr sz="1725" b="1">
                          <a:solidFill>
                            <a:srgbClr val="652A3A"/>
                          </a:solidFill>
                          <a:latin typeface="Malgun Gothic"/>
                          <a:ea typeface="Malgun Gothic"/>
                          <a:cs typeface="Malgun Gothic"/>
                        </a:rPr>
                        <a:t>/history · /resume</a:t>
                      </a:r>
                    </a:p>
                  </a:txBody>
                  <a:tcPr marL="91440" marR="91440" marT="45720" marB="45720" anchor="ctr">
                    <a:solidFill>
                      <a:srgbClr val="F6F2E9"/>
                    </a:solidFill>
                  </a:tcPr>
                </a:tc>
                <a:tc>
                  <a:txBody>
                    <a:bodyPr>
                      <a:noAutofit/>
                    </a:bodyPr>
                    <a:lstStyle/>
                    <a:p>
                      <a:r>
                        <a:rPr sz="1725" b="0">
                          <a:solidFill>
                            <a:srgbClr val="302E29"/>
                          </a:solidFill>
                          <a:latin typeface="Malgun Gothic"/>
                          <a:ea typeface="Malgun Gothic"/>
                          <a:cs typeface="Malgun Gothic"/>
                        </a:rPr>
                        <a:t>내 훈련 기록 확인·저장한 과제 재개</a:t>
                      </a:r>
                    </a:p>
                  </a:txBody>
                  <a:tcPr marL="91440" marR="91440" marT="45720" marB="45720" anchor="ctr">
                    <a:solidFill>
                      <a:srgbClr val="F6F2E9"/>
                    </a:solidFill>
                  </a:tcPr>
                </a:tc>
              </a:tr>
            </a:tbl>
          </a:graphicData>
        </a:graphic>
      </p:graphicFrame>
    </p:spTree>
    <p:extLst>
      <p:ext uri="{BB962C8B-B14F-4D97-AF65-F5344CB8AC3E}">
        <p14:creationId xmlns:p14="http://schemas.microsoft.com/office/powerpoint/2010/main" val="1997333777"/>
      </p:ext>
    </p:extLst>
  </p:cSld>
</p:sld>
</file>

<file path=ppt/slides/slide9.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12" name="04">
            <a:extLst xmlns:a="http://schemas.openxmlformats.org/drawingml/2006/main">
              <a:ext uri="{FF2B5EF4-FFF2-40B4-BE49-F238E27FC236}">
                <a16:creationId xmlns:a16="http://schemas.microsoft.com/office/drawing/2014/main" id="{BE526EC3-6EF3-4706-A44F-9F1E8ABD3644}"/>
              </a:ext>
            </a:extLst>
          </p:cNvPr>
          <p:cNvSpPr>
            <a:spLocks xmlns:a="http://schemas.openxmlformats.org/drawingml/2006/main" noGrp="1"/>
          </p:cNvSpPr>
          <p:nvPr/>
        </p:nvSpPr>
        <p:spPr>
          <a:xfrm xmlns:a="http://schemas.openxmlformats.org/drawingml/2006/main">
            <a:off x="609600" y="457200"/>
            <a:ext cx="1238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350" b="1">
                <a:solidFill>
                  <a:srgbClr val="652A3A"/>
                </a:solidFill>
                <a:latin typeface="Malgun Gothic"/>
                <a:ea typeface="Malgun Gothic"/>
                <a:cs typeface="Malgun Gothic"/>
              </a:defRPr>
            </a:pPr>
            <a:r>
              <a:rPr sz="4350" b="1">
                <a:solidFill>
                  <a:srgbClr val="652A3A"/>
                </a:solidFill>
                <a:latin typeface="Malgun Gothic"/>
                <a:ea typeface="Malgun Gothic"/>
                <a:cs typeface="Malgun Gothic"/>
              </a:rPr>
              <a:t>03</a:t>
            </a:r>
          </a:p>
        </p:txBody>
      </p:sp>
      <p:sp>
        <p:nvSpPr>
          <p:cNvPr id="2" name="개선할 점">
            <a:extLst xmlns:a="http://schemas.openxmlformats.org/drawingml/2006/main">
              <a:ext uri="{FF2B5EF4-FFF2-40B4-BE49-F238E27FC236}">
                <a16:creationId xmlns:a16="http://schemas.microsoft.com/office/drawing/2014/main" id="{B63B2DB2-5218-47A1-8149-5A1F7D09DCBE}"/>
              </a:ext>
            </a:extLst>
          </p:cNvPr>
          <p:cNvSpPr>
            <a:spLocks xmlns:a="http://schemas.openxmlformats.org/drawingml/2006/main" noGrp="1"/>
          </p:cNvSpPr>
          <p:nvPr/>
        </p:nvSpPr>
        <p:spPr>
          <a:xfrm xmlns:a="http://schemas.openxmlformats.org/drawingml/2006/main">
            <a:off x="609600" y="1314450"/>
            <a:ext cx="12763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725" b="0">
                <a:solidFill>
                  <a:srgbClr val="797468"/>
                </a:solidFill>
                <a:latin typeface="Malgun Gothic"/>
                <a:ea typeface="Malgun Gothic"/>
                <a:cs typeface="Malgun Gothic"/>
              </a:defRPr>
            </a:pPr>
            <a:r>
              <a:rPr sz="1725" b="0">
                <a:solidFill>
                  <a:srgbClr val="797468"/>
                </a:solidFill>
                <a:latin typeface="Malgun Gothic"/>
                <a:ea typeface="Malgun Gothic"/>
                <a:cs typeface="Malgun Gothic"/>
              </a:rPr>
              <a:t>개선할 점</a:t>
            </a:r>
          </a:p>
        </p:txBody>
      </p:sp>
      <p:sp>
        <p:nvSpPr>
          <p:cNvPr id="3" name="개선할 점 ① 문제와 평가의 품질">
            <a:extLst xmlns:a="http://schemas.openxmlformats.org/drawingml/2006/main">
              <a:ext uri="{FF2B5EF4-FFF2-40B4-BE49-F238E27FC236}">
                <a16:creationId xmlns:a16="http://schemas.microsoft.com/office/drawing/2014/main" id="{79148966-6E0D-4CD1-BFFC-79B8DA6387D9}"/>
              </a:ext>
            </a:extLst>
          </p:cNvPr>
          <p:cNvSpPr>
            <a:spLocks xmlns:a="http://schemas.openxmlformats.org/drawingml/2006/main" noGrp="1"/>
          </p:cNvSpPr>
          <p:nvPr/>
        </p:nvSpPr>
        <p:spPr>
          <a:xfrm xmlns:a="http://schemas.openxmlformats.org/drawingml/2006/main">
            <a:off x="2381250" y="542925"/>
            <a:ext cx="91059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925" b="1">
                <a:solidFill>
                  <a:srgbClr val="652A3A"/>
                </a:solidFill>
                <a:latin typeface="Malgun Gothic"/>
                <a:ea typeface="Malgun Gothic"/>
                <a:cs typeface="Malgun Gothic"/>
              </a:defRPr>
            </a:pPr>
            <a:r>
              <a:rPr sz="2925" b="1">
                <a:solidFill>
                  <a:srgbClr val="652A3A"/>
                </a:solidFill>
                <a:latin typeface="Malgun Gothic"/>
                <a:ea typeface="Malgun Gothic"/>
                <a:cs typeface="Malgun Gothic"/>
              </a:rPr>
              <a:t>개선할 점 ① 문제와 평가의 품질</a:t>
            </a:r>
          </a:p>
        </p:txBody>
      </p:sp>
      <p:sp>
        <p:nvSpPr>
          <p:cNvPr id="4" name="11">
            <a:extLst xmlns:a="http://schemas.openxmlformats.org/drawingml/2006/main">
              <a:ext uri="{FF2B5EF4-FFF2-40B4-BE49-F238E27FC236}">
                <a16:creationId xmlns:a16="http://schemas.microsoft.com/office/drawing/2014/main" id="{6A7E9F55-CAF1-4E0E-B98B-A02C09000F50}"/>
              </a:ext>
            </a:extLst>
          </p:cNvPr>
          <p:cNvSpPr>
            <a:spLocks xmlns:a="http://schemas.openxmlformats.org/drawingml/2006/main" noGrp="1"/>
          </p:cNvSpPr>
          <p:nvPr/>
        </p:nvSpPr>
        <p:spPr>
          <a:xfrm xmlns:a="http://schemas.openxmlformats.org/drawingml/2006/main">
            <a:off x="609600" y="6200775"/>
            <a:ext cx="914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75" b="0">
                <a:solidFill>
                  <a:srgbClr val="797468"/>
                </a:solidFill>
                <a:latin typeface="Malgun Gothic"/>
                <a:ea typeface="Malgun Gothic"/>
                <a:cs typeface="Malgun Gothic"/>
              </a:defRPr>
            </a:pPr>
            <a:r>
              <a:rPr sz="1575" b="0">
                <a:solidFill>
                  <a:srgbClr val="797468"/>
                </a:solidFill>
                <a:latin typeface="Malgun Gothic"/>
                <a:ea typeface="Malgun Gothic"/>
                <a:cs typeface="Malgun Gothic"/>
              </a:rPr>
              <a:t>09</a:t>
            </a:r>
          </a:p>
        </p:txBody>
      </p:sp>
      <p:sp>
        <p:nvSpPr>
          <p:cNvPr id="5" name="사용 경험을 바탕으로 모색할 방향">
            <a:extLst xmlns:a="http://schemas.openxmlformats.org/drawingml/2006/main">
              <a:ext uri="{FF2B5EF4-FFF2-40B4-BE49-F238E27FC236}">
                <a16:creationId xmlns:a16="http://schemas.microsoft.com/office/drawing/2014/main" id="{2FB71859-C375-48D5-BBB6-E38719507F89}"/>
              </a:ext>
            </a:extLst>
          </p:cNvPr>
          <p:cNvSpPr>
            <a:spLocks xmlns:a="http://schemas.openxmlformats.org/drawingml/2006/main" noGrp="1"/>
          </p:cNvSpPr>
          <p:nvPr/>
        </p:nvSpPr>
        <p:spPr>
          <a:xfrm xmlns:a="http://schemas.openxmlformats.org/drawingml/2006/main">
            <a:off x="2381250" y="1743075"/>
            <a:ext cx="9144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797468"/>
                </a:solidFill>
                <a:latin typeface="Malgun Gothic"/>
                <a:ea typeface="Malgun Gothic"/>
                <a:cs typeface="Malgun Gothic"/>
              </a:defRPr>
            </a:pPr>
            <a:r>
              <a:rPr sz="2100" b="0">
                <a:solidFill>
                  <a:srgbClr val="797468"/>
                </a:solidFill>
                <a:latin typeface="Malgun Gothic"/>
                <a:ea typeface="Malgun Gothic"/>
                <a:cs typeface="Malgun Gothic"/>
              </a:rPr>
              <a:t>문제와 평가의 품질을 높일 개선 방향</a:t>
            </a:r>
          </a:p>
        </p:txBody>
      </p:sp>
      <p:graphicFrame>
        <p:nvGraphicFramePr>
          <p:cNvPr id="13" name="">
            <a:extLst xmlns:a="http://schemas.openxmlformats.org/drawingml/2006/main">
              <a:ext uri="{FF2B5EF4-FFF2-40B4-BE49-F238E27FC236}">
                <a16:creationId xmlns:a16="http://schemas.microsoft.com/office/drawing/2014/main" id="{558D4FEA-7BE1-47EA-A77C-7A373F0FFA3E}"/>
              </a:ext>
            </a:extLst>
          </p:cNvPr>
          <p:cNvGraphicFramePr/>
          <p:nvPr/>
        </p:nvGraphicFramePr>
        <p:xfrm>
          <a:off xmlns:a="http://schemas.openxmlformats.org/drawingml/2006/main" x="2381250" y="2714625"/>
          <a:ext xmlns:a="http://schemas.openxmlformats.org/drawingml/2006/main" cx="5905500" cy="3352800"/>
        </p:xfrm>
        <a:graphic xmlns:a="http://schemas.openxmlformats.org/drawingml/2006/main">
          <a:graphicData uri="http://schemas.openxmlformats.org/drawingml/2006/table">
            <a:tbl>
              <a:tblPr firstRow="0" bandRow="0"/>
              <a:tblGrid>
                <a:gridCol w="2286000"/>
                <a:gridCol w="6858000"/>
              </a:tblGrid>
              <a:tr h="609600">
                <a:tc>
                  <a:txBody>
                    <a:bodyPr/>
                    <a:lstStyle/>
                    <a:p>
                      <a:r>
                        <a:rPr sz="1875" b="1">
                          <a:solidFill>
                            <a:srgbClr val="FFFFFF"/>
                          </a:solidFill>
                          <a:latin typeface="Malgun Gothic"/>
                          <a:ea typeface="Malgun Gothic"/>
                          <a:cs typeface="Malgun Gothic"/>
                        </a:rPr>
                        <a:t>개선 항목</a:t>
                      </a:r>
                    </a:p>
                  </a:txBody>
                  <a:tcPr marL="171450" marR="133350" marT="152400" marB="133350" anchor="ctr">
                    <a:solidFill>
                      <a:srgbClr val="586240"/>
                    </a:solidFill>
                  </a:tcPr>
                </a:tc>
                <a:tc>
                  <a:txBody>
                    <a:bodyPr/>
                    <a:lstStyle/>
                    <a:p>
                      <a:r>
                        <a:rPr sz="1875" b="1">
                          <a:solidFill>
                            <a:srgbClr val="FFFFFF"/>
                          </a:solidFill>
                          <a:latin typeface="Malgun Gothic"/>
                          <a:ea typeface="Malgun Gothic"/>
                          <a:cs typeface="Malgun Gothic"/>
                        </a:rPr>
                        <a:t>개선 방향</a:t>
                      </a:r>
                    </a:p>
                  </a:txBody>
                  <a:tcPr marL="171450" marR="133350" marT="152400" marB="133350" anchor="ctr">
                    <a:solidFill>
                      <a:srgbClr val="586240"/>
                    </a:solidFill>
                  </a:tcPr>
                </a:tc>
              </a:tr>
              <a:tr h="1371600">
                <a:tc>
                  <a:txBody>
                    <a:bodyPr/>
                    <a:lstStyle/>
                    <a:p>
                      <a:r>
                        <a:rPr sz="1875">
                          <a:solidFill>
                            <a:srgbClr val="302E29"/>
                          </a:solidFill>
                          <a:latin typeface="Malgun Gothic"/>
                          <a:ea typeface="Malgun Gothic"/>
                          <a:cs typeface="Malgun Gothic"/>
                        </a:rPr>
                        <a:t>문제의 품질</a:t>
                      </a:r>
                    </a:p>
                  </a:txBody>
                  <a:tcPr marL="171450" marR="133350" marT="152400" marB="133350" anchor="ctr">
                    <a:solidFill>
                      <a:srgbClr val="F6F2E9"/>
                    </a:solidFill>
                  </a:tcPr>
                </a:tc>
                <a:tc>
                  <a:txBody>
                    <a:bodyPr/>
                    <a:lstStyle/>
                    <a:p>
                      <a:r>
                        <a:rPr sz="1875">
                          <a:solidFill>
                            <a:srgbClr val="302E29"/>
                          </a:solidFill>
                          <a:latin typeface="Malgun Gothic"/>
                          <a:ea typeface="Malgun Gothic"/>
                          <a:cs typeface="Malgun Gothic"/>
                        </a:rPr>
                        <a:t>난이도별 비교·판단 수준 구분</a:t>
                      </a:r>
                    </a:p>
                    <a:p>
                      <a:r>
                        <a:rPr sz="1875">
                          <a:solidFill>
                            <a:srgbClr val="302E29"/>
                          </a:solidFill>
                          <a:latin typeface="Malgun Gothic"/>
                          <a:ea typeface="Malgun Gothic"/>
                          <a:cs typeface="Malgun Gothic"/>
                        </a:rPr>
                        <a:t>실무 사례에 좀 더 밀접하게 출제</a:t>
                      </a:r>
                    </a:p>
                  </a:txBody>
                  <a:tcPr marL="171450" marR="133350" marT="152400" marB="133350" anchor="ctr">
                    <a:solidFill>
                      <a:srgbClr val="F6F2E9"/>
                    </a:solidFill>
                  </a:tcPr>
                </a:tc>
              </a:tr>
              <a:tr h="1371600">
                <a:tc>
                  <a:txBody>
                    <a:bodyPr/>
                    <a:lstStyle/>
                    <a:p>
                      <a:r>
                        <a:rPr sz="1875">
                          <a:solidFill>
                            <a:srgbClr val="302E29"/>
                          </a:solidFill>
                          <a:latin typeface="Malgun Gothic"/>
                          <a:ea typeface="Malgun Gothic"/>
                          <a:cs typeface="Malgun Gothic"/>
                        </a:rPr>
                        <a:t>평가의 품질</a:t>
                      </a:r>
                    </a:p>
                  </a:txBody>
                  <a:tcPr marL="171450" marR="133350" marT="152400" marB="133350" anchor="ctr">
                    <a:solidFill>
                      <a:srgbClr val="F6F2E9"/>
                    </a:solidFill>
                  </a:tcPr>
                </a:tc>
                <a:tc>
                  <a:txBody>
                    <a:bodyPr/>
                    <a:lstStyle/>
                    <a:p>
                      <a:r>
                        <a:rPr sz="1875">
                          <a:solidFill>
                            <a:srgbClr val="302E29"/>
                          </a:solidFill>
                          <a:latin typeface="Malgun Gothic"/>
                          <a:ea typeface="Malgun Gothic"/>
                          <a:cs typeface="Malgun Gothic"/>
                        </a:rPr>
                        <a:t>실무에서 쓰는 평가 기준 조사</a:t>
                      </a:r>
                    </a:p>
                    <a:p>
                      <a:r>
                        <a:rPr sz="1875">
                          <a:solidFill>
                            <a:srgbClr val="302E29"/>
                          </a:solidFill>
                          <a:latin typeface="Malgun Gothic"/>
                          <a:ea typeface="Malgun Gothic"/>
                          <a:cs typeface="Malgun Gothic"/>
                        </a:rPr>
                        <a:t>평가 지침에 반영</a:t>
                      </a:r>
                    </a:p>
                  </a:txBody>
                  <a:tcPr marL="171450" marR="133350" marT="152400" marB="133350" anchor="ctr">
                    <a:solidFill>
                      <a:srgbClr val="F6F2E9"/>
                    </a:solidFill>
                  </a:tcPr>
                </a:tc>
              </a:tr>
            </a:tbl>
          </a:graphicData>
        </a:graphic>
      </p:graphicFrame>
    </p:spTree>
    <p:extLst>
      <p:ext uri="{BB962C8B-B14F-4D97-AF65-F5344CB8AC3E}">
        <p14:creationId xmlns:p14="http://schemas.microsoft.com/office/powerpoint/2010/main" val="990081078"/>
      </p:ext>
    </p:extLst>
  </p:cSld>
</p:sld>
</file>

<file path=ppt/slides/slide10.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11" name="04">
            <a:extLst xmlns:a="http://schemas.openxmlformats.org/drawingml/2006/main">
              <a:ext uri="{FF2B5EF4-FFF2-40B4-BE49-F238E27FC236}">
                <a16:creationId xmlns:a16="http://schemas.microsoft.com/office/drawing/2014/main" id="{383BBBE5-6ACA-4923-9364-EFDD17E276C2}"/>
              </a:ext>
            </a:extLst>
          </p:cNvPr>
          <p:cNvSpPr>
            <a:spLocks xmlns:a="http://schemas.openxmlformats.org/drawingml/2006/main" noGrp="1"/>
          </p:cNvSpPr>
          <p:nvPr/>
        </p:nvSpPr>
        <p:spPr>
          <a:xfrm xmlns:a="http://schemas.openxmlformats.org/drawingml/2006/main">
            <a:off x="609600" y="457200"/>
            <a:ext cx="1238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350" b="1">
                <a:solidFill>
                  <a:srgbClr val="652A3A"/>
                </a:solidFill>
                <a:latin typeface="Malgun Gothic"/>
                <a:ea typeface="Malgun Gothic"/>
                <a:cs typeface="Malgun Gothic"/>
              </a:defRPr>
            </a:pPr>
            <a:r>
              <a:rPr sz="4350" b="1">
                <a:solidFill>
                  <a:srgbClr val="652A3A"/>
                </a:solidFill>
                <a:latin typeface="Malgun Gothic"/>
                <a:ea typeface="Malgun Gothic"/>
                <a:cs typeface="Malgun Gothic"/>
              </a:rPr>
              <a:t>03</a:t>
            </a:r>
          </a:p>
        </p:txBody>
      </p:sp>
      <p:sp>
        <p:nvSpPr>
          <p:cNvPr id="2" name="개선할 점">
            <a:extLst xmlns:a="http://schemas.openxmlformats.org/drawingml/2006/main">
              <a:ext uri="{FF2B5EF4-FFF2-40B4-BE49-F238E27FC236}">
                <a16:creationId xmlns:a16="http://schemas.microsoft.com/office/drawing/2014/main" id="{6412658D-19E6-4651-83FA-867943E0C06D}"/>
              </a:ext>
            </a:extLst>
          </p:cNvPr>
          <p:cNvSpPr>
            <a:spLocks xmlns:a="http://schemas.openxmlformats.org/drawingml/2006/main" noGrp="1"/>
          </p:cNvSpPr>
          <p:nvPr/>
        </p:nvSpPr>
        <p:spPr>
          <a:xfrm xmlns:a="http://schemas.openxmlformats.org/drawingml/2006/main">
            <a:off x="609600" y="1314450"/>
            <a:ext cx="12763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725" b="0">
                <a:solidFill>
                  <a:srgbClr val="797468"/>
                </a:solidFill>
                <a:latin typeface="Malgun Gothic"/>
                <a:ea typeface="Malgun Gothic"/>
                <a:cs typeface="Malgun Gothic"/>
              </a:defRPr>
            </a:pPr>
            <a:r>
              <a:rPr sz="1725" b="0">
                <a:solidFill>
                  <a:srgbClr val="797468"/>
                </a:solidFill>
                <a:latin typeface="Malgun Gothic"/>
                <a:ea typeface="Malgun Gothic"/>
                <a:cs typeface="Malgun Gothic"/>
              </a:rPr>
              <a:t>개선할 점</a:t>
            </a:r>
          </a:p>
        </p:txBody>
      </p:sp>
      <p:sp>
        <p:nvSpPr>
          <p:cNvPr id="3" name="개선할 점 ② 조회 결과의 시각화">
            <a:extLst xmlns:a="http://schemas.openxmlformats.org/drawingml/2006/main">
              <a:ext uri="{FF2B5EF4-FFF2-40B4-BE49-F238E27FC236}">
                <a16:creationId xmlns:a16="http://schemas.microsoft.com/office/drawing/2014/main" id="{EAF04316-7B21-4727-89EB-EC06D2A5F007}"/>
              </a:ext>
            </a:extLst>
          </p:cNvPr>
          <p:cNvSpPr>
            <a:spLocks xmlns:a="http://schemas.openxmlformats.org/drawingml/2006/main" noGrp="1"/>
          </p:cNvSpPr>
          <p:nvPr/>
        </p:nvSpPr>
        <p:spPr>
          <a:xfrm xmlns:a="http://schemas.openxmlformats.org/drawingml/2006/main">
            <a:off x="2381250" y="542925"/>
            <a:ext cx="91059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925" b="1">
                <a:solidFill>
                  <a:srgbClr val="652A3A"/>
                </a:solidFill>
                <a:latin typeface="Malgun Gothic"/>
                <a:ea typeface="Malgun Gothic"/>
                <a:cs typeface="Malgun Gothic"/>
              </a:defRPr>
            </a:pPr>
            <a:r>
              <a:rPr sz="2925" b="1">
                <a:solidFill>
                  <a:srgbClr val="652A3A"/>
                </a:solidFill>
                <a:latin typeface="Malgun Gothic"/>
                <a:ea typeface="Malgun Gothic"/>
                <a:cs typeface="Malgun Gothic"/>
              </a:rPr>
              <a:t>개선할 점 ② 조회 결과의 시각화</a:t>
            </a:r>
          </a:p>
        </p:txBody>
      </p:sp>
      <p:sp>
        <p:nvSpPr>
          <p:cNvPr id="4" name="12">
            <a:extLst xmlns:a="http://schemas.openxmlformats.org/drawingml/2006/main">
              <a:ext uri="{FF2B5EF4-FFF2-40B4-BE49-F238E27FC236}">
                <a16:creationId xmlns:a16="http://schemas.microsoft.com/office/drawing/2014/main" id="{D3CF6762-A664-4215-9120-E05927C90420}"/>
              </a:ext>
            </a:extLst>
          </p:cNvPr>
          <p:cNvSpPr>
            <a:spLocks xmlns:a="http://schemas.openxmlformats.org/drawingml/2006/main" noGrp="1"/>
          </p:cNvSpPr>
          <p:nvPr/>
        </p:nvSpPr>
        <p:spPr>
          <a:xfrm xmlns:a="http://schemas.openxmlformats.org/drawingml/2006/main">
            <a:off x="609600" y="6200775"/>
            <a:ext cx="914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75" b="0">
                <a:solidFill>
                  <a:srgbClr val="797468"/>
                </a:solidFill>
                <a:latin typeface="Malgun Gothic"/>
                <a:ea typeface="Malgun Gothic"/>
                <a:cs typeface="Malgun Gothic"/>
              </a:defRPr>
            </a:pPr>
            <a:r>
              <a:rPr sz="1575" b="0">
                <a:solidFill>
                  <a:srgbClr val="797468"/>
                </a:solidFill>
                <a:latin typeface="Malgun Gothic"/>
                <a:ea typeface="Malgun Gothic"/>
                <a:cs typeface="Malgun Gothic"/>
              </a:rPr>
              <a:t>10</a:t>
            </a:r>
          </a:p>
        </p:txBody>
      </p:sp>
      <p:sp>
        <p:nvSpPr>
          <p:cNvPr id="5" name="표 중심의 조회 결과로는&#10;추세와 차이를 파악하기 어려움">
            <a:extLst xmlns:a="http://schemas.openxmlformats.org/drawingml/2006/main">
              <a:ext uri="{FF2B5EF4-FFF2-40B4-BE49-F238E27FC236}">
                <a16:creationId xmlns:a16="http://schemas.microsoft.com/office/drawing/2014/main" id="{4583AD23-06BB-4246-A661-45C24953E878}"/>
              </a:ext>
            </a:extLst>
          </p:cNvPr>
          <p:cNvSpPr>
            <a:spLocks xmlns:a="http://schemas.openxmlformats.org/drawingml/2006/main" noGrp="1"/>
          </p:cNvSpPr>
          <p:nvPr/>
        </p:nvSpPr>
        <p:spPr>
          <a:xfrm xmlns:a="http://schemas.openxmlformats.org/drawingml/2006/main">
            <a:off x="2381250" y="1762125"/>
            <a:ext cx="914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302E29"/>
                </a:solidFill>
                <a:latin typeface="Malgun Gothic"/>
                <a:ea typeface="Malgun Gothic"/>
                <a:cs typeface="Malgun Gothic"/>
              </a:defRPr>
            </a:defPPr>
          </a:lstStyle>
          <a:p xmlns:a="http://schemas.openxmlformats.org/drawingml/2006/main">
            <a:pPr>
              <a:buNone/>
              <a:defRPr sz="2100" b="0">
                <a:solidFill>
                  <a:srgbClr val="302E29"/>
                </a:solidFill>
                <a:latin typeface="Malgun Gothic"/>
                <a:ea typeface="Malgun Gothic"/>
                <a:cs typeface="Malgun Gothic"/>
              </a:defRPr>
            </a:pPr>
            <a:r>
              <a:rPr sz="2100" b="0">
                <a:solidFill>
                  <a:srgbClr val="302E29"/>
                </a:solidFill>
                <a:latin typeface="Malgun Gothic"/>
                <a:ea typeface="Malgun Gothic"/>
                <a:cs typeface="Malgun Gothic"/>
              </a:rPr>
              <a:t>현재: 표 이미지와 다운로드 파일 제공</a:t>
            </a:r>
          </a:p>
          <a:p xmlns:a="http://schemas.openxmlformats.org/drawingml/2006/main">
            <a:pPr>
              <a:buNone/>
              <a:defRPr sz="2100" b="0">
                <a:solidFill>
                  <a:srgbClr val="302E29"/>
                </a:solidFill>
                <a:latin typeface="Malgun Gothic"/>
                <a:ea typeface="Malgun Gothic"/>
                <a:cs typeface="Malgun Gothic"/>
              </a:defRPr>
            </a:pPr>
            <a:r>
              <a:rPr sz="2100" b="0">
                <a:solidFill>
                  <a:srgbClr val="302E29"/>
                </a:solidFill>
                <a:latin typeface="Malgun Gothic"/>
                <a:ea typeface="Malgun Gothic"/>
                <a:cs typeface="Malgun Gothic"/>
              </a:rPr>
              <a:t>개선: 시각화 도구를 연결해 목적에 맞는 도표 제공</a:t>
            </a:r>
          </a:p>
        </p:txBody>
      </p:sp>
      <p:graphicFrame>
        <p:nvGraphicFramePr>
          <p:cNvPr id="12" name="">
            <a:extLst xmlns:a="http://schemas.openxmlformats.org/drawingml/2006/main">
              <a:ext uri="{FF2B5EF4-FFF2-40B4-BE49-F238E27FC236}">
                <a16:creationId xmlns:a16="http://schemas.microsoft.com/office/drawing/2014/main" id="{DA5D88B3-7D2C-452A-9689-11D726A693D9}"/>
              </a:ext>
            </a:extLst>
          </p:cNvPr>
          <p:cNvGraphicFramePr/>
          <p:nvPr/>
        </p:nvGraphicFramePr>
        <p:xfrm>
          <a:off xmlns:a="http://schemas.openxmlformats.org/drawingml/2006/main" x="2381250" y="3000375"/>
          <a:ext xmlns:a="http://schemas.openxmlformats.org/drawingml/2006/main" cx="9144000" cy="3009900"/>
        </p:xfrm>
        <a:graphic xmlns:a="http://schemas.openxmlformats.org/drawingml/2006/main">
          <a:graphicData uri="http://schemas.openxmlformats.org/drawingml/2006/table">
            <a:tbl>
              <a:tblPr firstRow="0" bandRow="0"/>
              <a:tblGrid>
                <a:gridCol w="2095500"/>
                <a:gridCol w="2286000"/>
                <a:gridCol w="4762500"/>
              </a:tblGrid>
              <a:tr h="609600">
                <a:tc>
                  <a:txBody>
                    <a:bodyPr/>
                    <a:lstStyle/>
                    <a:p>
                      <a:r>
                        <a:rPr sz="1875" b="1">
                          <a:solidFill>
                            <a:srgbClr val="FFFFFF"/>
                          </a:solidFill>
                          <a:latin typeface="Malgun Gothic"/>
                          <a:ea typeface="Malgun Gothic"/>
                          <a:cs typeface="Malgun Gothic"/>
                        </a:rPr>
                        <a:t>분석 목적</a:t>
                      </a:r>
                    </a:p>
                  </a:txBody>
                  <a:tcPr marL="171450" marR="133350" marT="152400" marB="133350" anchor="ctr">
                    <a:solidFill>
                      <a:srgbClr val="586240"/>
                    </a:solidFill>
                  </a:tcPr>
                </a:tc>
                <a:tc>
                  <a:txBody>
                    <a:bodyPr/>
                    <a:lstStyle/>
                    <a:p>
                      <a:r>
                        <a:rPr sz="1875" b="1">
                          <a:solidFill>
                            <a:srgbClr val="FFFFFF"/>
                          </a:solidFill>
                          <a:latin typeface="Malgun Gothic"/>
                          <a:ea typeface="Malgun Gothic"/>
                          <a:cs typeface="Malgun Gothic"/>
                        </a:rPr>
                        <a:t>사용할 도표</a:t>
                      </a:r>
                    </a:p>
                  </a:txBody>
                  <a:tcPr marL="171450" marR="133350" marT="152400" marB="133350" anchor="ctr">
                    <a:solidFill>
                      <a:srgbClr val="586240"/>
                    </a:solidFill>
                  </a:tcPr>
                </a:tc>
                <a:tc>
                  <a:txBody>
                    <a:bodyPr/>
                    <a:lstStyle/>
                    <a:p>
                      <a:r>
                        <a:rPr sz="1875" b="1">
                          <a:solidFill>
                            <a:srgbClr val="FFFFFF"/>
                          </a:solidFill>
                          <a:latin typeface="Malgun Gothic"/>
                          <a:ea typeface="Malgun Gothic"/>
                          <a:cs typeface="Malgun Gothic"/>
                        </a:rPr>
                        <a:t>확인할 내용</a:t>
                      </a:r>
                    </a:p>
                  </a:txBody>
                  <a:tcPr marL="171450" marR="133350" marT="152400" marB="133350" anchor="ctr">
                    <a:solidFill>
                      <a:srgbClr val="586240"/>
                    </a:solidFill>
                  </a:tcPr>
                </a:tc>
              </a:tr>
              <a:tr h="800100">
                <a:tc>
                  <a:txBody>
                    <a:bodyPr/>
                    <a:lstStyle/>
                    <a:p>
                      <a:r>
                        <a:rPr sz="1875">
                          <a:solidFill>
                            <a:srgbClr val="302E29"/>
                          </a:solidFill>
                          <a:latin typeface="Malgun Gothic"/>
                          <a:ea typeface="Malgun Gothic"/>
                          <a:cs typeface="Malgun Gothic"/>
                        </a:rPr>
                        <a:t>항목 비교</a:t>
                      </a:r>
                    </a:p>
                  </a:txBody>
                  <a:tcPr marL="171450" marR="133350" marT="152400" marB="133350" anchor="ctr">
                    <a:solidFill>
                      <a:srgbClr val="F6F2E9"/>
                    </a:solidFill>
                  </a:tcPr>
                </a:tc>
                <a:tc>
                  <a:txBody>
                    <a:bodyPr/>
                    <a:lstStyle/>
                    <a:p>
                      <a:r>
                        <a:rPr sz="1875">
                          <a:solidFill>
                            <a:srgbClr val="302E29"/>
                          </a:solidFill>
                          <a:latin typeface="Malgun Gothic"/>
                          <a:ea typeface="Malgun Gothic"/>
                          <a:cs typeface="Malgun Gothic"/>
                        </a:rPr>
                        <a:t>막대그래프</a:t>
                      </a:r>
                    </a:p>
                  </a:txBody>
                  <a:tcPr marL="171450" marR="133350" marT="152400" marB="133350" anchor="ctr">
                    <a:solidFill>
                      <a:srgbClr val="F6F2E9"/>
                    </a:solidFill>
                  </a:tcPr>
                </a:tc>
                <a:tc>
                  <a:txBody>
                    <a:bodyPr/>
                    <a:lstStyle/>
                    <a:p>
                      <a:r>
                        <a:rPr sz="1875">
                          <a:solidFill>
                            <a:srgbClr val="302E29"/>
                          </a:solidFill>
                          <a:latin typeface="Malgun Gothic"/>
                          <a:ea typeface="Malgun Gothic"/>
                          <a:cs typeface="Malgun Gothic"/>
                        </a:rPr>
                        <a:t>채널·그룹 사이의 차이</a:t>
                      </a:r>
                    </a:p>
                  </a:txBody>
                  <a:tcPr marL="171450" marR="133350" marT="152400" marB="133350" anchor="ctr">
                    <a:solidFill>
                      <a:srgbClr val="F6F2E9"/>
                    </a:solidFill>
                  </a:tcPr>
                </a:tc>
              </a:tr>
              <a:tr h="800100">
                <a:tc>
                  <a:txBody>
                    <a:bodyPr/>
                    <a:lstStyle/>
                    <a:p>
                      <a:r>
                        <a:rPr sz="1875">
                          <a:solidFill>
                            <a:srgbClr val="302E29"/>
                          </a:solidFill>
                          <a:latin typeface="Malgun Gothic"/>
                          <a:ea typeface="Malgun Gothic"/>
                          <a:cs typeface="Malgun Gothic"/>
                        </a:rPr>
                        <a:t>시간 변화</a:t>
                      </a:r>
                    </a:p>
                  </a:txBody>
                  <a:tcPr marL="171450" marR="133350" marT="152400" marB="133350" anchor="ctr">
                    <a:solidFill>
                      <a:srgbClr val="F6F2E9"/>
                    </a:solidFill>
                  </a:tcPr>
                </a:tc>
                <a:tc>
                  <a:txBody>
                    <a:bodyPr/>
                    <a:lstStyle/>
                    <a:p>
                      <a:r>
                        <a:rPr sz="1875">
                          <a:solidFill>
                            <a:srgbClr val="302E29"/>
                          </a:solidFill>
                          <a:latin typeface="Malgun Gothic"/>
                          <a:ea typeface="Malgun Gothic"/>
                          <a:cs typeface="Malgun Gothic"/>
                        </a:rPr>
                        <a:t>선그래프</a:t>
                      </a:r>
                    </a:p>
                  </a:txBody>
                  <a:tcPr marL="171450" marR="133350" marT="152400" marB="133350" anchor="ctr">
                    <a:solidFill>
                      <a:srgbClr val="F6F2E9"/>
                    </a:solidFill>
                  </a:tcPr>
                </a:tc>
                <a:tc>
                  <a:txBody>
                    <a:bodyPr/>
                    <a:lstStyle/>
                    <a:p>
                      <a:r>
                        <a:rPr sz="1875">
                          <a:solidFill>
                            <a:srgbClr val="302E29"/>
                          </a:solidFill>
                          <a:latin typeface="Malgun Gothic"/>
                          <a:ea typeface="Malgun Gothic"/>
                          <a:cs typeface="Malgun Gothic"/>
                        </a:rPr>
                        <a:t>기간별 추세와 변화</a:t>
                      </a:r>
                    </a:p>
                  </a:txBody>
                  <a:tcPr marL="171450" marR="133350" marT="152400" marB="133350" anchor="ctr">
                    <a:solidFill>
                      <a:srgbClr val="F6F2E9"/>
                    </a:solidFill>
                  </a:tcPr>
                </a:tc>
              </a:tr>
              <a:tr h="800100">
                <a:tc>
                  <a:txBody>
                    <a:bodyPr/>
                    <a:lstStyle/>
                    <a:p>
                      <a:r>
                        <a:rPr sz="1875">
                          <a:solidFill>
                            <a:srgbClr val="302E29"/>
                          </a:solidFill>
                          <a:latin typeface="Malgun Gothic"/>
                          <a:ea typeface="Malgun Gothic"/>
                          <a:cs typeface="Malgun Gothic"/>
                        </a:rPr>
                        <a:t>분포 확인</a:t>
                      </a:r>
                    </a:p>
                  </a:txBody>
                  <a:tcPr marL="171450" marR="133350" marT="152400" marB="133350" anchor="ctr">
                    <a:solidFill>
                      <a:srgbClr val="F6F2E9"/>
                    </a:solidFill>
                  </a:tcPr>
                </a:tc>
                <a:tc>
                  <a:txBody>
                    <a:bodyPr/>
                    <a:lstStyle/>
                    <a:p>
                      <a:r>
                        <a:rPr sz="1875">
                          <a:solidFill>
                            <a:srgbClr val="302E29"/>
                          </a:solidFill>
                          <a:latin typeface="Malgun Gothic"/>
                          <a:ea typeface="Malgun Gothic"/>
                          <a:cs typeface="Malgun Gothic"/>
                        </a:rPr>
                        <a:t>히스토그램</a:t>
                      </a:r>
                    </a:p>
                  </a:txBody>
                  <a:tcPr marL="171450" marR="133350" marT="152400" marB="133350" anchor="ctr">
                    <a:solidFill>
                      <a:srgbClr val="F6F2E9"/>
                    </a:solidFill>
                  </a:tcPr>
                </a:tc>
                <a:tc>
                  <a:txBody>
                    <a:bodyPr/>
                    <a:lstStyle/>
                    <a:p>
                      <a:r>
                        <a:rPr sz="1875">
                          <a:solidFill>
                            <a:srgbClr val="302E29"/>
                          </a:solidFill>
                          <a:latin typeface="Malgun Gothic"/>
                          <a:ea typeface="Malgun Gothic"/>
                          <a:cs typeface="Malgun Gothic"/>
                        </a:rPr>
                        <a:t>값이 몰리는 구간과 퍼짐</a:t>
                      </a:r>
                    </a:p>
                  </a:txBody>
                  <a:tcPr marL="171450" marR="133350" marT="152400" marB="133350" anchor="ctr">
                    <a:solidFill>
                      <a:srgbClr val="F6F2E9"/>
                    </a:solidFill>
                  </a:tcPr>
                </a:tc>
              </a:tr>
            </a:tbl>
          </a:graphicData>
        </a:graphic>
      </p:graphicFrame>
    </p:spTree>
    <p:extLst>
      <p:ext uri="{BB962C8B-B14F-4D97-AF65-F5344CB8AC3E}">
        <p14:creationId xmlns:p14="http://schemas.microsoft.com/office/powerpoint/2010/main" val="15461412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10</ap:Slides>
  <ap:Notes>10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2026-10-07T17:26:10.1790000Z</dcterms:created>
  <dcterms:modified xsi:type="dcterms:W3CDTF">2026-10-07T17:26:10.1800000Z</dcterms:modified>
</coreProperties>
</file>